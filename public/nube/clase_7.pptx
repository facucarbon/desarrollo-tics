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05840"/>
            <a:ext cx="1097280" cy="1097280"/>
          </a:xfrm>
          <a:prstGeom prst="ellipse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1371600"/>
            <a:ext cx="1325880" cy="1325880"/>
          </a:xfrm>
          <a:prstGeom prst="ellipse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92440" y="1600200"/>
            <a:ext cx="1417320" cy="1417320"/>
          </a:xfrm>
          <a:prstGeom prst="ellipse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32520" y="1920240"/>
            <a:ext cx="1920240" cy="1920240"/>
          </a:xfrm>
          <a:prstGeom prst="ellipse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949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Seguridad en la Nube</a:t>
            </a:r>
          </a:p>
          <a:p>
            <a:pPr>
              <a:spcBef>
                <a:spcPts val="1000"/>
              </a:spcBef>
              <a:defRPr sz="2200">
                <a:solidFill>
                  <a:srgbClr val="D6E1EC"/>
                </a:solidFill>
              </a:defRPr>
            </a:pPr>
            <a:r>
              <a:t>Principios · Herramientas · Mejores prácticas</a:t>
            </a:r>
          </a:p>
          <a:p>
            <a:pPr>
              <a:spcBef>
                <a:spcPts val="2400"/>
              </a:spcBef>
              <a:defRPr sz="1400">
                <a:solidFill>
                  <a:srgbClr val="FFFFFF"/>
                </a:solidFill>
              </a:defRPr>
            </a:pPr>
            <a:r>
              <a:t>Cloud Computing y Desarrollo de Software · Clase de 2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¿Qué vamos a aprender hoy?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600200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Comprender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Responsabilidad compartida y principios de seguridad.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6636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73152" cy="1600200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81912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Aplicar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Mínimo privilegio, MFA, cifrado y segmentación.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16636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474720"/>
            <a:ext cx="73152" cy="1600200"/>
          </a:xfrm>
          <a:prstGeom prst="rect">
            <a:avLst/>
          </a:prstGeom>
          <a:solidFill>
            <a:srgbClr val="D3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Relacionar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Riesgo → control → herramienta cloud.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16636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474720"/>
            <a:ext cx="73152" cy="1600200"/>
          </a:xfrm>
          <a:prstGeom prst="rect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39312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Diseñar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Una arquitectura básica con seguridad desde el inicio.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Pregunta disparadora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6E1EC"/>
                </a:solidFill>
                <a:latin typeface="Aptos"/>
              </a:defRPr>
            </a:pPr>
            <a:r>
              <a:t>Una aplicación está desplegada en la nube. ¿Quién es responsable de su seguridad?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74A"/>
                </a:solidFill>
              </a:defRPr>
            </a:pPr>
            <a:r>
              <a:t>USUARIO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74A"/>
                </a:solidFill>
              </a:defRPr>
            </a:pPr>
            <a:r>
              <a:t>INTERNET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74A"/>
                </a:solidFill>
              </a:defRPr>
            </a:pPr>
            <a:r>
              <a:t>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74A"/>
                </a:solidFill>
              </a:defRPr>
            </a:pPr>
            <a:r>
              <a:t>BASE DE DATOS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52928" y="3017520"/>
            <a:ext cx="384048" cy="365760"/>
          </a:xfrm>
          <a:prstGeom prst="rightArrow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321808" y="3017520"/>
            <a:ext cx="384048" cy="365760"/>
          </a:xfrm>
          <a:prstGeom prst="rightArrow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790688" y="3017520"/>
            <a:ext cx="384048" cy="365760"/>
          </a:xfrm>
          <a:prstGeom prst="rightArrow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46177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Idea clave: estar en la nube ≠ delegar toda la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Modelo de responsabilidad compartida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36F7B"/>
                </a:solidFill>
                <a:latin typeface="Aptos"/>
              </a:defRPr>
            </a:pPr>
            <a:r>
              <a:t>A medida que pasamos de On-Premise a SaaS, cambia quién administra cada capa.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606040" cy="3977639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73152" cy="3977639"/>
          </a:xfrm>
          <a:prstGeom prst="rect">
            <a:avLst/>
          </a:prstGeom>
          <a:solidFill>
            <a:srgbClr val="B4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1"/>
            <a:ext cx="2194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ON-PREMISE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Cliente administra todo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977639"/>
            <a:ext cx="2103120" cy="329184"/>
          </a:xfrm>
          <a:prstGeom prst="rect">
            <a:avLst/>
          </a:prstGeom>
          <a:solidFill>
            <a:srgbClr val="B4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416552"/>
            <a:ext cx="2103120" cy="329184"/>
          </a:xfrm>
          <a:prstGeom prst="rect">
            <a:avLst/>
          </a:prstGeom>
          <a:solidFill>
            <a:srgbClr val="B4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Aplicación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4855464"/>
            <a:ext cx="2103120" cy="329184"/>
          </a:xfrm>
          <a:prstGeom prst="rect">
            <a:avLst/>
          </a:prstGeom>
          <a:solidFill>
            <a:srgbClr val="B4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SO/Runtime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294375"/>
            <a:ext cx="2103120" cy="329184"/>
          </a:xfrm>
          <a:prstGeom prst="rect">
            <a:avLst/>
          </a:prstGeom>
          <a:solidFill>
            <a:srgbClr val="B4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Infraestructura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508760"/>
            <a:ext cx="2606040" cy="3977639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508760"/>
            <a:ext cx="73152" cy="3977639"/>
          </a:xfrm>
          <a:prstGeom prst="rect">
            <a:avLst/>
          </a:prstGeom>
          <a:solidFill>
            <a:srgbClr val="D3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673351"/>
            <a:ext cx="2194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IaaS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Proveedor: infraestructura física</a:t>
            </a:r>
            <a:br/>
            <a:r>
              <a:t>Cliente: SO, apps, datos y configuración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977639"/>
            <a:ext cx="2103120" cy="32918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22831"/>
                </a:solidFill>
              </a:defRPr>
            </a:pPr>
            <a:r>
              <a:t>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416552"/>
            <a:ext cx="2103120" cy="32918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22831"/>
                </a:solidFill>
              </a:defRPr>
            </a:pPr>
            <a:r>
              <a:t>Aplicación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855464"/>
            <a:ext cx="2103120" cy="329184"/>
          </a:xfrm>
          <a:prstGeom prst="rect">
            <a:avLst/>
          </a:prstGeom>
          <a:solidFill>
            <a:srgbClr val="D3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SO/Runtime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294375"/>
            <a:ext cx="2103120" cy="329184"/>
          </a:xfrm>
          <a:prstGeom prst="rect">
            <a:avLst/>
          </a:prstGeom>
          <a:solidFill>
            <a:srgbClr val="D3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Infraestructura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508760"/>
            <a:ext cx="2606040" cy="3977639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8504" y="1508760"/>
            <a:ext cx="73152" cy="3977639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1673351"/>
            <a:ext cx="2194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PaaS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Proveedor: infraestructura + plataforma</a:t>
            </a:r>
            <a:br/>
            <a:r>
              <a:t>Cliente: app, datos, identidades y configuración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3977639"/>
            <a:ext cx="2103120" cy="329184"/>
          </a:xfrm>
          <a:prstGeom prst="rect">
            <a:avLst/>
          </a:prstGeom>
          <a:solidFill>
            <a:srgbClr val="D6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22831"/>
                </a:solidFill>
              </a:defRPr>
            </a:pPr>
            <a:r>
              <a:t>Datos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5392" y="4416552"/>
            <a:ext cx="2103120" cy="329184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Aplicación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4855464"/>
            <a:ext cx="2103120" cy="329184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SO/Runtime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5294375"/>
            <a:ext cx="2103120" cy="329184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Infraestructura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6296" y="1508760"/>
            <a:ext cx="2606040" cy="3977639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26296" y="1508760"/>
            <a:ext cx="73152" cy="3977639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1673351"/>
            <a:ext cx="2194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SaaS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Proveedor administra gran parte del stack</a:t>
            </a:r>
            <a:br/>
            <a:r>
              <a:t>Cliente conserva datos, accesos y configuración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73184" y="3977639"/>
            <a:ext cx="2103120" cy="329184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Datos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73184" y="4416552"/>
            <a:ext cx="2103120" cy="329184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Aplicación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73184" y="4855464"/>
            <a:ext cx="2103120" cy="329184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SO/Runtime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73184" y="5294375"/>
            <a:ext cx="2103120" cy="329184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Infraestructura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Principios fundamentales: triada 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290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73152" cy="3474720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C · Confidencialidad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Solo accede quien corresponde.</a:t>
            </a:r>
            <a:br/>
            <a:r>
              <a:t>IAM · cifrado · secretos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92" y="1554480"/>
            <a:ext cx="34290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07992" y="1554480"/>
            <a:ext cx="73152" cy="3474720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719072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I · Integridad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Los datos no se alteran sin autorización.</a:t>
            </a:r>
            <a:br/>
            <a:r>
              <a:t>Permisos · hashes ·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0183" y="1554480"/>
            <a:ext cx="34290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30183" y="1554480"/>
            <a:ext cx="73152" cy="3474720"/>
          </a:xfrm>
          <a:prstGeom prst="rect">
            <a:avLst/>
          </a:prstGeom>
          <a:solidFill>
            <a:srgbClr val="D3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719072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A · Disponibilidad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El servicio está disponible cuando se necesita.</a:t>
            </a:r>
            <a:br/>
            <a:r>
              <a:t>Redundancia · backup · 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14274A"/>
                </a:solidFill>
              </a:defRPr>
            </a:pPr>
            <a:r>
              <a:t>Ejemplo: una base cifrada pero sin backup protege confidencialidad, pero pone en riesgo disponibilidad.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Identidad y acceso: el nuevo perímetro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Mínimo privilegio: solo los permisos necesarios.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MFA: reducir el riesgo de una contraseña comprometida.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RBAC: permisos asociados a roles, no a personas individualmente.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Zero Trust: verificar explícitamente cada acceso.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48463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73152" cy="1097280"/>
          </a:xfrm>
          <a:prstGeom prst="rect">
            <a:avLst/>
          </a:prstGeom>
          <a:solidFill>
            <a:srgbClr val="B4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627632"/>
            <a:ext cx="44348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Ejemplo inseguro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Aplicación → usuario de BD con rol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88920"/>
            <a:ext cx="48463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788920"/>
            <a:ext cx="73152" cy="1417320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953512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Mejora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Aplicación → identidad propia → permisos SELECT / INSERT / 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484632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480560"/>
            <a:ext cx="73152" cy="1097280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45152"/>
            <a:ext cx="44348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Objetivo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Reducir el blast radius si una cuenta es comprometida.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Datos, secretos y cifrado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B4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No hacer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DB_PASSWORD = “MiPassword123”</a:t>
            </a:r>
            <a:br/>
            <a:r>
              <a:t>API keys, tokens o certificados dentro del código o repositorio.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53035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489204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Mejor práctica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Usar un gestor de secretos y una identidad autorizada para recuperarlos en tiempo de ejecución.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48006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73152" cy="1188720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904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En reposo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Discos · bases · backups · object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39"/>
            <a:ext cx="48006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834639"/>
            <a:ext cx="73152" cy="1188720"/>
          </a:xfrm>
          <a:prstGeom prst="rect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99923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En tránsito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HTTPS/TLS entre cliente, servicios y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43400"/>
            <a:ext cx="48006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343400"/>
            <a:ext cx="73152" cy="1188720"/>
          </a:xfrm>
          <a:prstGeom prst="rect">
            <a:avLst/>
          </a:prstGeom>
          <a:solidFill>
            <a:srgbClr val="D3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50799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En uso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Datos mientras son procesados por la aplicación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Arquitectura de red: reducir exposición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371600" cy="1051560"/>
          </a:xfrm>
          <a:prstGeom prst="roundRect">
            <a:avLst/>
          </a:prstGeom>
          <a:solidFill>
            <a:srgbClr val="D6E1EC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2743200"/>
            <a:ext cx="150876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WAF/CDN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743200"/>
            <a:ext cx="16459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Balanceador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468880"/>
            <a:ext cx="173736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Aplicación</a:t>
            </a:r>
            <a:br/>
            <a:r>
              <a:t>privada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468880"/>
            <a:ext cx="192024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Base de datos</a:t>
            </a:r>
            <a:br/>
            <a:r>
              <a:t>privada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3044952"/>
            <a:ext cx="384048" cy="320040"/>
          </a:xfrm>
          <a:prstGeom prst="rightArrow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977639" y="3044952"/>
            <a:ext cx="384048" cy="320040"/>
          </a:xfrm>
          <a:prstGeom prst="rightArrow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080760" y="3044952"/>
            <a:ext cx="384048" cy="320040"/>
          </a:xfrm>
          <a:prstGeom prst="rightArrow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366760" y="3044952"/>
            <a:ext cx="384048" cy="320040"/>
          </a:xfrm>
          <a:prstGeom prst="rightArrow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No publicar recursos que no necesitan Internet.</a:t>
            </a:r>
          </a:p>
          <a:p>
            <a:pPr>
              <a:spcAft>
                <a:spcPts val="12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Segmentar redes y restringir origen/destino.</a:t>
            </a:r>
          </a:p>
          <a:p>
            <a:pPr>
              <a:spcAft>
                <a:spcPts val="12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Usar firewall / security groups y WAF.</a:t>
            </a:r>
          </a:p>
          <a:p>
            <a:pPr>
              <a:spcAft>
                <a:spcPts val="1200"/>
              </a:spcAft>
              <a:defRPr sz="1600">
                <a:solidFill>
                  <a:srgbClr val="222831"/>
                </a:solidFill>
                <a:latin typeface="Aptos"/>
              </a:defRPr>
            </a:pPr>
            <a:r>
              <a:t>• Separar capas web, aplicación y datos.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DevSecOps: seguridad durante todo el ciclo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73152" cy="2057400"/>
          </a:xfrm>
          <a:prstGeom prst="rect">
            <a:avLst/>
          </a:prstGeom>
          <a:solidFill>
            <a:srgbClr val="23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CODE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SAST</a:t>
            </a:r>
            <a:br/>
            <a:r>
              <a:t>Secret scanning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8608" y="2606040"/>
            <a:ext cx="228600" cy="274320"/>
          </a:xfrm>
          <a:prstGeom prst="rightArrow">
            <a:avLst/>
          </a:prstGeom>
          <a:solidFill>
            <a:srgbClr val="636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39" y="1828800"/>
            <a:ext cx="20574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1828800"/>
            <a:ext cx="73152" cy="2057400"/>
          </a:xfrm>
          <a:prstGeom prst="rect">
            <a:avLst/>
          </a:prstGeom>
          <a:solidFill>
            <a:srgbClr val="2B9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1993392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BUILD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Dependencias</a:t>
            </a:r>
            <a:br/>
            <a:r>
              <a:t>Contenedores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10327" y="2606040"/>
            <a:ext cx="228600" cy="274320"/>
          </a:xfrm>
          <a:prstGeom prst="rightArrow">
            <a:avLst/>
          </a:prstGeom>
          <a:solidFill>
            <a:srgbClr val="636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59" y="1828800"/>
            <a:ext cx="20574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59" y="1828800"/>
            <a:ext cx="73152" cy="2057400"/>
          </a:xfrm>
          <a:prstGeom prst="rect">
            <a:avLst/>
          </a:prstGeom>
          <a:solidFill>
            <a:srgbClr val="308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1993392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TEST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DAST</a:t>
            </a:r>
            <a:br/>
            <a:r>
              <a:t>Pruebas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42048" y="2606040"/>
            <a:ext cx="228600" cy="274320"/>
          </a:xfrm>
          <a:prstGeom prst="rightArrow">
            <a:avLst/>
          </a:prstGeom>
          <a:solidFill>
            <a:srgbClr val="636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20574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1828800"/>
            <a:ext cx="73152" cy="2057400"/>
          </a:xfrm>
          <a:prstGeom prst="rect">
            <a:avLst/>
          </a:prstGeom>
          <a:solidFill>
            <a:srgbClr val="D3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1993392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DEPLOY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IaC</a:t>
            </a:r>
            <a:br/>
            <a:r>
              <a:t>Políticas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73767" y="2606040"/>
            <a:ext cx="228600" cy="274320"/>
          </a:xfrm>
          <a:prstGeom prst="rightArrow">
            <a:avLst/>
          </a:prstGeom>
          <a:solidFill>
            <a:srgbClr val="636F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828800"/>
            <a:ext cx="2057400" cy="2057400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29800" y="1828800"/>
            <a:ext cx="73152" cy="2057400"/>
          </a:xfrm>
          <a:prstGeom prst="rect">
            <a:avLst/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993392"/>
            <a:ext cx="1645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74A"/>
                </a:solidFill>
              </a:defRPr>
            </a:pPr>
            <a:r>
              <a:t>MONITOR</a:t>
            </a:r>
          </a:p>
          <a:p>
            <a:pPr>
              <a:spcBef>
                <a:spcPts val="700"/>
              </a:spcBef>
              <a:defRPr sz="1300">
                <a:solidFill>
                  <a:srgbClr val="222831"/>
                </a:solidFill>
              </a:defRPr>
            </a:pPr>
            <a:r>
              <a:t>Logs</a:t>
            </a:r>
            <a:br/>
            <a:r>
              <a:t>Alertas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09160"/>
            <a:ext cx="10149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274A"/>
                </a:solidFill>
              </a:defRPr>
            </a:pPr>
            <a:r>
              <a:t>Shift Left: encontrar problemas antes cuesta menos que corregirlos en producción.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Herramientas: pensar primero en la necesidad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3291840"/>
                <a:gridCol w="3154680"/>
              </a:tblGrid>
              <a:tr h="63354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Necesidad</a:t>
                      </a:r>
                    </a:p>
                  </a:txBody>
                  <a:tcPr>
                    <a:solidFill>
                      <a:srgbClr val="1427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AWS</a:t>
                      </a:r>
                    </a:p>
                  </a:txBody>
                  <a:tcPr>
                    <a:solidFill>
                      <a:srgbClr val="1427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Azure</a:t>
                      </a:r>
                    </a:p>
                  </a:txBody>
                  <a:tcPr>
                    <a:solidFill>
                      <a:srgbClr val="1427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14274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Identidad / permisos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AWS IAM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Microsoft Entra ID / Azure RBAC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Cloud IAM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Secretos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Secrets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Key 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Secret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Claves / cifrado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AWS KMS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Key Vault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Cloud KMS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WAF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AWS WAF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Azure WAF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Cloud Armor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Postura de seguridad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Security Hub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Defender for Cloud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Security Command Center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Logs / auditoría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CloudTrail / CloudWatch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Azure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831"/>
                          </a:solidFill>
                        </a:defRPr>
                      </a:pPr>
                      <a:r>
                        <a:t>Cloud Logging / Audit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10 mejores prácticas para llevarse de la clase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MFA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308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9339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Mínimo privilegio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46304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1808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99339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No compartir cuentas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46304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3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99339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Secretos fuera del código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46304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3807" y="157276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99339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Cifrar 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5844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0507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Reducir exposición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47472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308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35844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00507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Actualizar dependencias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347472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8" y="35844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400507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Centralizar 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47472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3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7807" y="35844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00507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Seguridad en CI/CD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3474720"/>
            <a:ext cx="196596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4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7" y="35844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67AB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4005072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74A"/>
                </a:solidFill>
              </a:defRPr>
            </a:pPr>
            <a:r>
              <a:t>Probar backups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Actividad integradora: Campus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6E1EC"/>
                </a:solidFill>
                <a:latin typeface="Aptos"/>
              </a:defRPr>
            </a:pPr>
            <a:r>
              <a:t>En grupos: detecten al menos 6 problemas y propongan controles.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74A"/>
                </a:solidFill>
              </a:defRPr>
            </a:pPr>
            <a:r>
              <a:t>Password de BD dentro del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74A"/>
                </a:solidFill>
              </a:defRPr>
            </a:pPr>
            <a:r>
              <a:t>Todos los desarrolladores son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74A"/>
                </a:solidFill>
              </a:defRPr>
            </a:pPr>
            <a:r>
              <a:t>No hay MFA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2608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74A"/>
                </a:solidFill>
              </a:defRPr>
            </a:pPr>
            <a:r>
              <a:t>Base de datos con IP pública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434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74A"/>
                </a:solidFill>
              </a:defRPr>
            </a:pPr>
            <a:r>
              <a:t>Logs retenidos solo 24 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34340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B9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74A"/>
                </a:solidFill>
              </a:defRPr>
            </a:pPr>
            <a:r>
              <a:t>Hay backup, pero nunca se restauró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89788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Completar: Problema → Riesgo → Control recomendado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Cierre: seguridad por diseño</a:t>
            </a:r>
          </a:p>
        </p:txBody>
      </p:sp>
      <p:sp>
        <p:nvSpPr>
          <p:cNvPr id="4" name="Oval 3"/>
          <p:cNvSpPr/>
          <p:nvPr/>
        </p:nvSpPr>
        <p:spPr>
          <a:xfrm>
            <a:off x="4800600" y="1965960"/>
            <a:ext cx="2560320" cy="2560320"/>
          </a:xfrm>
          <a:prstGeom prst="ellipse">
            <a:avLst/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APLICACIÓN</a:t>
            </a:r>
            <a:br/>
            <a:r>
              <a:t>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Identidades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12064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512064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384048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Backups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37160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Código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86868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Secretos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868680"/>
            <a:ext cx="164592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236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74A"/>
                </a:solidFill>
              </a:defRPr>
            </a:pPr>
            <a: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98932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74A"/>
                </a:solidFill>
              </a:defRPr>
            </a:pPr>
            <a:r>
              <a:t>La seguridad cloud no se agrega al final: se diseña desde el comienzo.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74A"/>
                </a:solidFill>
                <a:latin typeface="Aptos Display"/>
              </a:defRPr>
            </a:pPr>
            <a:r>
              <a:t>Referencias para profundizar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424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AWS — Shared Responsibility Model y Security Pillar.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Microsoft Learn — Shared responsibility in the cloud.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Google Cloud — Shared responsibility / shared fate y Security overview.</a:t>
            </a:r>
          </a:p>
          <a:p>
            <a:pPr>
              <a:spcAft>
                <a:spcPts val="1200"/>
              </a:spcAft>
              <a:defRPr sz="1900">
                <a:solidFill>
                  <a:srgbClr val="222831"/>
                </a:solidFill>
                <a:latin typeface="Aptos"/>
              </a:defRPr>
            </a:pPr>
            <a:r>
              <a:t>• OWASP — recursos de seguridad de aplicaciones y cloud native.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9834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36F7B"/>
                </a:solidFill>
              </a:defRPr>
            </a:pPr>
            <a:r>
              <a:t>Sugerencia docente: usar la hoja de ejercicios al finalizar la presentación como evaluación formativa.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F7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