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9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44698" y="1086979"/>
            <a:ext cx="5054603" cy="161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4725" y="600981"/>
            <a:ext cx="7414549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4725" y="1071898"/>
            <a:ext cx="7410450" cy="35660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n-ti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n-tie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web-queue-work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web-queue-worke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microservice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microservic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event-drive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guide/architecture-styles/event-drive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guide/architecture-styles/big-compute" TargetMode="External"/><Relationship Id="rId2" Type="http://schemas.openxmlformats.org/officeDocument/2006/relationships/hyperlink" Target="https://learn.microsoft.com/en-us/azure/architecture/guide/architecture-styles/big-dat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150" y="363550"/>
            <a:ext cx="6579699" cy="4416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Arquitecturas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133" rIns="0" bIns="0" rtlCol="0">
            <a:spAutoFit/>
          </a:bodyPr>
          <a:lstStyle/>
          <a:p>
            <a:pPr marL="12700" marR="5080" indent="45720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En</a:t>
            </a:r>
            <a:r>
              <a:rPr spc="-3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actualidad,</a:t>
            </a:r>
            <a:r>
              <a:rPr spc="-15" dirty="0"/>
              <a:t> </a:t>
            </a:r>
            <a:r>
              <a:rPr dirty="0"/>
              <a:t>el</a:t>
            </a:r>
            <a:r>
              <a:rPr spc="-15" dirty="0"/>
              <a:t> </a:t>
            </a:r>
            <a:r>
              <a:rPr dirty="0"/>
              <a:t>uso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nube</a:t>
            </a:r>
            <a:r>
              <a:rPr spc="-15" dirty="0"/>
              <a:t> </a:t>
            </a:r>
            <a:r>
              <a:rPr dirty="0"/>
              <a:t>está</a:t>
            </a:r>
            <a:r>
              <a:rPr spc="-15" dirty="0"/>
              <a:t> </a:t>
            </a:r>
            <a:r>
              <a:rPr dirty="0"/>
              <a:t>transformando</a:t>
            </a:r>
            <a:r>
              <a:rPr spc="-15" dirty="0"/>
              <a:t> </a:t>
            </a:r>
            <a:r>
              <a:rPr dirty="0"/>
              <a:t>el</a:t>
            </a:r>
            <a:r>
              <a:rPr spc="-15" dirty="0"/>
              <a:t> </a:t>
            </a:r>
            <a:r>
              <a:rPr dirty="0"/>
              <a:t>diseño</a:t>
            </a:r>
            <a:r>
              <a:rPr spc="-15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spc="-25" dirty="0"/>
              <a:t>la </a:t>
            </a:r>
            <a:r>
              <a:rPr dirty="0"/>
              <a:t>seguridad</a:t>
            </a:r>
            <a:r>
              <a:rPr spc="175" dirty="0"/>
              <a:t>  </a:t>
            </a:r>
            <a:r>
              <a:rPr dirty="0"/>
              <a:t>de</a:t>
            </a:r>
            <a:r>
              <a:rPr spc="175" dirty="0"/>
              <a:t>  </a:t>
            </a:r>
            <a:r>
              <a:rPr dirty="0"/>
              <a:t>las</a:t>
            </a:r>
            <a:r>
              <a:rPr spc="175" dirty="0"/>
              <a:t>  </a:t>
            </a:r>
            <a:r>
              <a:rPr dirty="0"/>
              <a:t>aplicaciones.</a:t>
            </a:r>
            <a:r>
              <a:rPr spc="170" dirty="0"/>
              <a:t>  </a:t>
            </a:r>
            <a:r>
              <a:rPr dirty="0"/>
              <a:t>En</a:t>
            </a:r>
            <a:r>
              <a:rPr spc="175" dirty="0"/>
              <a:t>  </a:t>
            </a:r>
            <a:r>
              <a:rPr dirty="0"/>
              <a:t>lugar</a:t>
            </a:r>
            <a:r>
              <a:rPr spc="175" dirty="0"/>
              <a:t>  </a:t>
            </a:r>
            <a:r>
              <a:rPr dirty="0"/>
              <a:t>de</a:t>
            </a:r>
            <a:r>
              <a:rPr spc="175" dirty="0"/>
              <a:t>  </a:t>
            </a:r>
            <a:r>
              <a:rPr dirty="0"/>
              <a:t>grandes</a:t>
            </a:r>
            <a:r>
              <a:rPr spc="180" dirty="0"/>
              <a:t>  </a:t>
            </a:r>
            <a:r>
              <a:rPr spc="-10" dirty="0"/>
              <a:t>aplicaciones </a:t>
            </a:r>
            <a:r>
              <a:rPr dirty="0"/>
              <a:t>monolíticas,</a:t>
            </a:r>
            <a:r>
              <a:rPr spc="225" dirty="0"/>
              <a:t>   </a:t>
            </a:r>
            <a:r>
              <a:rPr dirty="0"/>
              <a:t>se</a:t>
            </a:r>
            <a:r>
              <a:rPr spc="229" dirty="0"/>
              <a:t>   </a:t>
            </a:r>
            <a:r>
              <a:rPr dirty="0"/>
              <a:t>están</a:t>
            </a:r>
            <a:r>
              <a:rPr spc="229" dirty="0"/>
              <a:t>   </a:t>
            </a:r>
            <a:r>
              <a:rPr dirty="0"/>
              <a:t>utilizando</a:t>
            </a:r>
            <a:r>
              <a:rPr spc="225" dirty="0"/>
              <a:t>   </a:t>
            </a:r>
            <a:r>
              <a:rPr dirty="0"/>
              <a:t>servicios</a:t>
            </a:r>
            <a:r>
              <a:rPr spc="229" dirty="0"/>
              <a:t>   </a:t>
            </a:r>
            <a:r>
              <a:rPr dirty="0"/>
              <a:t>más</a:t>
            </a:r>
            <a:r>
              <a:rPr spc="229" dirty="0"/>
              <a:t>   </a:t>
            </a:r>
            <a:r>
              <a:rPr dirty="0"/>
              <a:t>pequeños</a:t>
            </a:r>
            <a:r>
              <a:rPr spc="229" dirty="0"/>
              <a:t>   </a:t>
            </a:r>
            <a:r>
              <a:rPr spc="-50" dirty="0"/>
              <a:t>y </a:t>
            </a:r>
            <a:r>
              <a:rPr dirty="0"/>
              <a:t>descentralizados.</a:t>
            </a:r>
            <a:r>
              <a:rPr spc="10" dirty="0"/>
              <a:t>  </a:t>
            </a:r>
            <a:r>
              <a:rPr dirty="0"/>
              <a:t>Estos</a:t>
            </a:r>
            <a:r>
              <a:rPr spc="10" dirty="0"/>
              <a:t>  </a:t>
            </a:r>
            <a:r>
              <a:rPr dirty="0"/>
              <a:t>servicios</a:t>
            </a:r>
            <a:r>
              <a:rPr spc="10" dirty="0"/>
              <a:t>  </a:t>
            </a:r>
            <a:r>
              <a:rPr dirty="0"/>
              <a:t>se</a:t>
            </a:r>
            <a:r>
              <a:rPr spc="10" dirty="0"/>
              <a:t>  </a:t>
            </a:r>
            <a:r>
              <a:rPr dirty="0"/>
              <a:t>comunican</a:t>
            </a:r>
            <a:r>
              <a:rPr spc="10" dirty="0"/>
              <a:t>  </a:t>
            </a:r>
            <a:r>
              <a:rPr dirty="0"/>
              <a:t>a</a:t>
            </a:r>
            <a:r>
              <a:rPr spc="10" dirty="0"/>
              <a:t>  </a:t>
            </a:r>
            <a:r>
              <a:rPr dirty="0"/>
              <a:t>través</a:t>
            </a:r>
            <a:r>
              <a:rPr spc="10" dirty="0"/>
              <a:t>  </a:t>
            </a:r>
            <a:r>
              <a:rPr dirty="0"/>
              <a:t>de</a:t>
            </a:r>
            <a:r>
              <a:rPr spc="420" dirty="0"/>
              <a:t> </a:t>
            </a:r>
            <a:r>
              <a:rPr dirty="0"/>
              <a:t>APIs</a:t>
            </a:r>
            <a:r>
              <a:rPr spc="10" dirty="0"/>
              <a:t>  </a:t>
            </a:r>
            <a:r>
              <a:rPr spc="-50" dirty="0"/>
              <a:t>o </a:t>
            </a:r>
            <a:r>
              <a:rPr dirty="0"/>
              <a:t>mediante</a:t>
            </a:r>
            <a:r>
              <a:rPr spc="235" dirty="0"/>
              <a:t> </a:t>
            </a:r>
            <a:r>
              <a:rPr dirty="0"/>
              <a:t>la</a:t>
            </a:r>
            <a:r>
              <a:rPr spc="235" dirty="0"/>
              <a:t> </a:t>
            </a:r>
            <a:r>
              <a:rPr dirty="0"/>
              <a:t>mensajería</a:t>
            </a:r>
            <a:r>
              <a:rPr spc="235" dirty="0"/>
              <a:t> </a:t>
            </a:r>
            <a:r>
              <a:rPr dirty="0"/>
              <a:t>asincrónica.</a:t>
            </a:r>
            <a:r>
              <a:rPr spc="135" dirty="0"/>
              <a:t> </a:t>
            </a:r>
            <a:r>
              <a:rPr dirty="0"/>
              <a:t>Además,</a:t>
            </a:r>
            <a:r>
              <a:rPr spc="235" dirty="0"/>
              <a:t> </a:t>
            </a:r>
            <a:r>
              <a:rPr dirty="0"/>
              <a:t>las</a:t>
            </a:r>
            <a:r>
              <a:rPr spc="235" dirty="0"/>
              <a:t> </a:t>
            </a:r>
            <a:r>
              <a:rPr dirty="0"/>
              <a:t>aplicaciones</a:t>
            </a:r>
            <a:r>
              <a:rPr spc="240" dirty="0"/>
              <a:t> </a:t>
            </a:r>
            <a:r>
              <a:rPr spc="-10" dirty="0"/>
              <a:t>escalan </a:t>
            </a:r>
            <a:r>
              <a:rPr dirty="0"/>
              <a:t>horizontalmente,</a:t>
            </a:r>
            <a:r>
              <a:rPr spc="-30" dirty="0"/>
              <a:t> </a:t>
            </a:r>
            <a:r>
              <a:rPr dirty="0"/>
              <a:t>agregando</a:t>
            </a:r>
            <a:r>
              <a:rPr spc="-30" dirty="0"/>
              <a:t> </a:t>
            </a:r>
            <a:r>
              <a:rPr dirty="0"/>
              <a:t>nuevas</a:t>
            </a:r>
            <a:r>
              <a:rPr spc="-25" dirty="0"/>
              <a:t> </a:t>
            </a:r>
            <a:r>
              <a:rPr dirty="0"/>
              <a:t>instancias</a:t>
            </a:r>
            <a:r>
              <a:rPr spc="-30" dirty="0"/>
              <a:t> </a:t>
            </a:r>
            <a:r>
              <a:rPr dirty="0"/>
              <a:t>según</a:t>
            </a:r>
            <a:r>
              <a:rPr spc="-30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-10" dirty="0"/>
              <a:t>demanda.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Arquitecturas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dirty="0"/>
              <a:t>Estos</a:t>
            </a:r>
            <a:r>
              <a:rPr spc="475" dirty="0"/>
              <a:t> </a:t>
            </a:r>
            <a:r>
              <a:rPr dirty="0"/>
              <a:t>cambios</a:t>
            </a:r>
            <a:r>
              <a:rPr spc="475" dirty="0"/>
              <a:t> </a:t>
            </a:r>
            <a:r>
              <a:rPr dirty="0"/>
              <a:t>presentan</a:t>
            </a:r>
            <a:r>
              <a:rPr spc="475" dirty="0"/>
              <a:t> </a:t>
            </a:r>
            <a:r>
              <a:rPr dirty="0"/>
              <a:t>desafíos</a:t>
            </a:r>
            <a:r>
              <a:rPr spc="475" dirty="0"/>
              <a:t> </a:t>
            </a:r>
            <a:r>
              <a:rPr dirty="0"/>
              <a:t>significativos.</a:t>
            </a:r>
            <a:r>
              <a:rPr spc="475" dirty="0"/>
              <a:t> </a:t>
            </a:r>
            <a:r>
              <a:rPr dirty="0"/>
              <a:t>Los</a:t>
            </a:r>
            <a:r>
              <a:rPr spc="475" dirty="0"/>
              <a:t> </a:t>
            </a:r>
            <a:r>
              <a:rPr dirty="0"/>
              <a:t>estados</a:t>
            </a:r>
            <a:r>
              <a:rPr spc="475" dirty="0"/>
              <a:t> </a:t>
            </a:r>
            <a:r>
              <a:rPr dirty="0"/>
              <a:t>de</a:t>
            </a:r>
            <a:r>
              <a:rPr spc="480" dirty="0"/>
              <a:t> </a:t>
            </a:r>
            <a:r>
              <a:rPr spc="-25" dirty="0"/>
              <a:t>las </a:t>
            </a:r>
            <a:r>
              <a:rPr dirty="0"/>
              <a:t>aplicaciones</a:t>
            </a:r>
            <a:r>
              <a:rPr spc="35" dirty="0"/>
              <a:t>  </a:t>
            </a:r>
            <a:r>
              <a:rPr dirty="0"/>
              <a:t>se</a:t>
            </a:r>
            <a:r>
              <a:rPr spc="40" dirty="0"/>
              <a:t>  </a:t>
            </a:r>
            <a:r>
              <a:rPr dirty="0"/>
              <a:t>distribuyen,</a:t>
            </a:r>
            <a:r>
              <a:rPr spc="35" dirty="0"/>
              <a:t>  </a:t>
            </a:r>
            <a:r>
              <a:rPr dirty="0"/>
              <a:t>las</a:t>
            </a:r>
            <a:r>
              <a:rPr spc="40" dirty="0"/>
              <a:t>  </a:t>
            </a:r>
            <a:r>
              <a:rPr dirty="0"/>
              <a:t>operaciones</a:t>
            </a:r>
            <a:r>
              <a:rPr spc="35" dirty="0"/>
              <a:t>  </a:t>
            </a:r>
            <a:r>
              <a:rPr dirty="0"/>
              <a:t>se</a:t>
            </a:r>
            <a:r>
              <a:rPr spc="40" dirty="0"/>
              <a:t>  </a:t>
            </a:r>
            <a:r>
              <a:rPr dirty="0"/>
              <a:t>realizan</a:t>
            </a:r>
            <a:r>
              <a:rPr spc="40" dirty="0"/>
              <a:t>  </a:t>
            </a:r>
            <a:r>
              <a:rPr dirty="0"/>
              <a:t>de</a:t>
            </a:r>
            <a:r>
              <a:rPr spc="40" dirty="0"/>
              <a:t>  </a:t>
            </a:r>
            <a:r>
              <a:rPr spc="-10" dirty="0"/>
              <a:t>manera </a:t>
            </a:r>
            <a:r>
              <a:rPr dirty="0"/>
              <a:t>paralela</a:t>
            </a:r>
            <a:r>
              <a:rPr spc="85" dirty="0"/>
              <a:t> </a:t>
            </a:r>
            <a:r>
              <a:rPr dirty="0"/>
              <a:t>y</a:t>
            </a:r>
            <a:r>
              <a:rPr spc="85" dirty="0"/>
              <a:t> </a:t>
            </a:r>
            <a:r>
              <a:rPr dirty="0"/>
              <a:t>asincrónica,</a:t>
            </a:r>
            <a:r>
              <a:rPr spc="85" dirty="0"/>
              <a:t> </a:t>
            </a:r>
            <a:r>
              <a:rPr dirty="0"/>
              <a:t>y</a:t>
            </a:r>
            <a:r>
              <a:rPr spc="85" dirty="0"/>
              <a:t> </a:t>
            </a:r>
            <a:r>
              <a:rPr dirty="0"/>
              <a:t>es</a:t>
            </a:r>
            <a:r>
              <a:rPr spc="85" dirty="0"/>
              <a:t> </a:t>
            </a:r>
            <a:r>
              <a:rPr dirty="0"/>
              <a:t>crucial</a:t>
            </a:r>
            <a:r>
              <a:rPr spc="85" dirty="0"/>
              <a:t> </a:t>
            </a:r>
            <a:r>
              <a:rPr dirty="0"/>
              <a:t>que</a:t>
            </a:r>
            <a:r>
              <a:rPr spc="85" dirty="0"/>
              <a:t> </a:t>
            </a:r>
            <a:r>
              <a:rPr dirty="0"/>
              <a:t>las</a:t>
            </a:r>
            <a:r>
              <a:rPr spc="85" dirty="0"/>
              <a:t> </a:t>
            </a:r>
            <a:r>
              <a:rPr dirty="0"/>
              <a:t>aplicaciones</a:t>
            </a:r>
            <a:r>
              <a:rPr spc="85" dirty="0"/>
              <a:t> </a:t>
            </a:r>
            <a:r>
              <a:rPr dirty="0"/>
              <a:t>sean</a:t>
            </a:r>
            <a:r>
              <a:rPr spc="90" dirty="0"/>
              <a:t> </a:t>
            </a:r>
            <a:r>
              <a:rPr spc="-10" dirty="0"/>
              <a:t>resilientes </a:t>
            </a:r>
            <a:r>
              <a:rPr dirty="0"/>
              <a:t>frente</a:t>
            </a:r>
            <a:r>
              <a:rPr spc="340" dirty="0"/>
              <a:t> </a:t>
            </a:r>
            <a:r>
              <a:rPr dirty="0"/>
              <a:t>a</a:t>
            </a:r>
            <a:r>
              <a:rPr spc="350" dirty="0"/>
              <a:t> </a:t>
            </a:r>
            <a:r>
              <a:rPr dirty="0"/>
              <a:t>fallos.</a:t>
            </a:r>
            <a:r>
              <a:rPr spc="254" dirty="0"/>
              <a:t> </a:t>
            </a:r>
            <a:r>
              <a:rPr dirty="0"/>
              <a:t>Además,</a:t>
            </a:r>
            <a:r>
              <a:rPr spc="350" dirty="0"/>
              <a:t> </a:t>
            </a:r>
            <a:r>
              <a:rPr dirty="0"/>
              <a:t>los</a:t>
            </a:r>
            <a:r>
              <a:rPr spc="355" dirty="0"/>
              <a:t> </a:t>
            </a:r>
            <a:r>
              <a:rPr dirty="0"/>
              <a:t>actores</a:t>
            </a:r>
            <a:r>
              <a:rPr spc="350" dirty="0"/>
              <a:t> </a:t>
            </a:r>
            <a:r>
              <a:rPr dirty="0"/>
              <a:t>maliciosos</a:t>
            </a:r>
            <a:r>
              <a:rPr spc="350" dirty="0"/>
              <a:t> </a:t>
            </a:r>
            <a:r>
              <a:rPr dirty="0"/>
              <a:t>están</a:t>
            </a:r>
            <a:r>
              <a:rPr spc="355" dirty="0"/>
              <a:t> </a:t>
            </a:r>
            <a:r>
              <a:rPr spc="-10" dirty="0"/>
              <a:t>constantemente </a:t>
            </a:r>
            <a:r>
              <a:rPr dirty="0"/>
              <a:t>enfocados</a:t>
            </a:r>
            <a:r>
              <a:rPr spc="80" dirty="0"/>
              <a:t>  </a:t>
            </a:r>
            <a:r>
              <a:rPr dirty="0"/>
              <a:t>en</a:t>
            </a:r>
            <a:r>
              <a:rPr spc="85" dirty="0"/>
              <a:t>  </a:t>
            </a:r>
            <a:r>
              <a:rPr dirty="0"/>
              <a:t>atacar</a:t>
            </a:r>
            <a:r>
              <a:rPr spc="85" dirty="0"/>
              <a:t>  </a:t>
            </a:r>
            <a:r>
              <a:rPr dirty="0"/>
              <a:t>las</a:t>
            </a:r>
            <a:r>
              <a:rPr spc="85" dirty="0"/>
              <a:t>  </a:t>
            </a:r>
            <a:r>
              <a:rPr dirty="0"/>
              <a:t>aplicaciones.</a:t>
            </a:r>
            <a:r>
              <a:rPr spc="80" dirty="0"/>
              <a:t>  </a:t>
            </a:r>
            <a:r>
              <a:rPr dirty="0"/>
              <a:t>Por</a:t>
            </a:r>
            <a:r>
              <a:rPr spc="85" dirty="0"/>
              <a:t>  </a:t>
            </a:r>
            <a:r>
              <a:rPr dirty="0"/>
              <a:t>otro</a:t>
            </a:r>
            <a:r>
              <a:rPr spc="85" dirty="0"/>
              <a:t>  </a:t>
            </a:r>
            <a:r>
              <a:rPr dirty="0"/>
              <a:t>lado,</a:t>
            </a:r>
            <a:r>
              <a:rPr spc="85" dirty="0"/>
              <a:t>  </a:t>
            </a:r>
            <a:r>
              <a:rPr dirty="0"/>
              <a:t>es</a:t>
            </a:r>
            <a:r>
              <a:rPr spc="85" dirty="0"/>
              <a:t>  </a:t>
            </a:r>
            <a:r>
              <a:rPr spc="-10" dirty="0"/>
              <a:t>necesario </a:t>
            </a:r>
            <a:r>
              <a:rPr dirty="0"/>
              <a:t>automatizar</a:t>
            </a:r>
            <a:r>
              <a:rPr spc="185" dirty="0"/>
              <a:t>  </a:t>
            </a:r>
            <a:r>
              <a:rPr dirty="0"/>
              <a:t>y</a:t>
            </a:r>
            <a:r>
              <a:rPr spc="185" dirty="0"/>
              <a:t>  </a:t>
            </a:r>
            <a:r>
              <a:rPr dirty="0"/>
              <a:t>predecir</a:t>
            </a:r>
            <a:r>
              <a:rPr spc="185" dirty="0"/>
              <a:t>  </a:t>
            </a:r>
            <a:r>
              <a:rPr dirty="0"/>
              <a:t>los</a:t>
            </a:r>
            <a:r>
              <a:rPr spc="190" dirty="0"/>
              <a:t>  </a:t>
            </a:r>
            <a:r>
              <a:rPr dirty="0"/>
              <a:t>despliegues</a:t>
            </a:r>
            <a:r>
              <a:rPr spc="185" dirty="0"/>
              <a:t>  </a:t>
            </a:r>
            <a:r>
              <a:rPr dirty="0"/>
              <a:t>de</a:t>
            </a:r>
            <a:r>
              <a:rPr spc="185" dirty="0"/>
              <a:t>  </a:t>
            </a:r>
            <a:r>
              <a:rPr dirty="0"/>
              <a:t>las</a:t>
            </a:r>
            <a:r>
              <a:rPr spc="185" dirty="0"/>
              <a:t>  </a:t>
            </a:r>
            <a:r>
              <a:rPr dirty="0"/>
              <a:t>aplicaciones,</a:t>
            </a:r>
            <a:r>
              <a:rPr spc="190" dirty="0"/>
              <a:t>  </a:t>
            </a:r>
            <a:r>
              <a:rPr dirty="0"/>
              <a:t>y</a:t>
            </a:r>
            <a:r>
              <a:rPr spc="185" dirty="0"/>
              <a:t>  </a:t>
            </a:r>
            <a:r>
              <a:rPr spc="-25" dirty="0"/>
              <a:t>el </a:t>
            </a:r>
            <a:r>
              <a:rPr dirty="0"/>
              <a:t>monitoreo</a:t>
            </a:r>
            <a:r>
              <a:rPr spc="80" dirty="0"/>
              <a:t>  </a:t>
            </a:r>
            <a:r>
              <a:rPr dirty="0"/>
              <a:t>y</a:t>
            </a:r>
            <a:r>
              <a:rPr spc="80" dirty="0"/>
              <a:t>  </a:t>
            </a:r>
            <a:r>
              <a:rPr dirty="0"/>
              <a:t>la</a:t>
            </a:r>
            <a:r>
              <a:rPr spc="80" dirty="0"/>
              <a:t>  </a:t>
            </a:r>
            <a:r>
              <a:rPr dirty="0"/>
              <a:t>telemetría</a:t>
            </a:r>
            <a:r>
              <a:rPr spc="80" dirty="0"/>
              <a:t>  </a:t>
            </a:r>
            <a:r>
              <a:rPr dirty="0"/>
              <a:t>son</a:t>
            </a:r>
            <a:r>
              <a:rPr spc="80" dirty="0"/>
              <a:t>  </a:t>
            </a:r>
            <a:r>
              <a:rPr dirty="0"/>
              <a:t>esenciales</a:t>
            </a:r>
            <a:r>
              <a:rPr spc="80" dirty="0"/>
              <a:t>  </a:t>
            </a:r>
            <a:r>
              <a:rPr dirty="0"/>
              <a:t>para</a:t>
            </a:r>
            <a:r>
              <a:rPr spc="80" dirty="0"/>
              <a:t>  </a:t>
            </a:r>
            <a:r>
              <a:rPr dirty="0"/>
              <a:t>obtener</a:t>
            </a:r>
            <a:r>
              <a:rPr spc="80" dirty="0"/>
              <a:t>  </a:t>
            </a:r>
            <a:r>
              <a:rPr spc="-10" dirty="0"/>
              <a:t>información </a:t>
            </a:r>
            <a:r>
              <a:rPr dirty="0"/>
              <a:t>valiosa</a:t>
            </a:r>
            <a:r>
              <a:rPr spc="-25" dirty="0"/>
              <a:t> </a:t>
            </a:r>
            <a:r>
              <a:rPr dirty="0"/>
              <a:t>sobre</a:t>
            </a:r>
            <a:r>
              <a:rPr spc="-25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spc="-10" dirty="0"/>
              <a:t>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Arquitecturas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6437" y="1249155"/>
            <a:ext cx="1179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Modern</a:t>
            </a:r>
            <a:r>
              <a:rPr sz="1500" spc="-8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cloud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137" y="1249155"/>
            <a:ext cx="2968625" cy="245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MT"/>
                <a:cs typeface="Arial MT"/>
              </a:rPr>
              <a:t>Traditional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on-premises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Monolithic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Designed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predictable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scalability Relational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database</a:t>
            </a:r>
            <a:endParaRPr sz="1500">
              <a:latin typeface="Arial MT"/>
              <a:cs typeface="Arial MT"/>
            </a:endParaRPr>
          </a:p>
          <a:p>
            <a:pPr marL="12700" marR="269875"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Synchronized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processing </a:t>
            </a:r>
            <a:r>
              <a:rPr sz="1500" dirty="0">
                <a:latin typeface="Arial MT"/>
                <a:cs typeface="Arial MT"/>
              </a:rPr>
              <a:t>Design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avoid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failures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(MTBF) Occasional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large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updates </a:t>
            </a:r>
            <a:r>
              <a:rPr sz="1500" dirty="0">
                <a:latin typeface="Arial MT"/>
                <a:cs typeface="Arial MT"/>
              </a:rPr>
              <a:t>Manual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management</a:t>
            </a:r>
            <a:r>
              <a:rPr sz="1500" spc="5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Snowflake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servers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6437" y="1846655"/>
            <a:ext cx="304038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 MT"/>
                <a:cs typeface="Arial MT"/>
              </a:rPr>
              <a:t>Decomposed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Designed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elastic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scale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Polyglot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persistence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(mix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storage technologies)</a:t>
            </a:r>
            <a:endParaRPr sz="1500">
              <a:latin typeface="Arial MT"/>
              <a:cs typeface="Arial MT"/>
            </a:endParaRPr>
          </a:p>
          <a:p>
            <a:pPr marL="12700" marR="576580"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Asynchronous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processing </a:t>
            </a:r>
            <a:r>
              <a:rPr sz="1500" dirty="0">
                <a:latin typeface="Arial MT"/>
                <a:cs typeface="Arial MT"/>
              </a:rPr>
              <a:t>Design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failure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(MTTR) </a:t>
            </a:r>
            <a:r>
              <a:rPr sz="1500" dirty="0">
                <a:latin typeface="Arial MT"/>
                <a:cs typeface="Arial MT"/>
              </a:rPr>
              <a:t>Frequent</a:t>
            </a:r>
            <a:r>
              <a:rPr sz="1500" spc="-8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small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updates Automated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self-</a:t>
            </a:r>
            <a:r>
              <a:rPr sz="1500" spc="-10" dirty="0">
                <a:latin typeface="Arial MT"/>
                <a:cs typeface="Arial MT"/>
              </a:rPr>
              <a:t>management Immutable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infrastructure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Arquitecturas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7787" y="382050"/>
            <a:ext cx="3448424" cy="43794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842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28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N-</a:t>
            </a:r>
            <a:r>
              <a:rPr u="heavy" spc="-2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tier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-10" dirty="0">
                <a:hlinkClick r:id="rId2"/>
              </a:rPr>
              <a:t>N-</a:t>
            </a:r>
            <a:r>
              <a:rPr dirty="0">
                <a:hlinkClick r:id="rId2"/>
              </a:rPr>
              <a:t>tier</a:t>
            </a:r>
            <a:r>
              <a:rPr spc="-25" dirty="0"/>
              <a:t> </a:t>
            </a:r>
            <a:r>
              <a:rPr dirty="0"/>
              <a:t>es</a:t>
            </a:r>
            <a:r>
              <a:rPr spc="-25" dirty="0"/>
              <a:t> </a:t>
            </a:r>
            <a:r>
              <a:rPr dirty="0"/>
              <a:t>una</a:t>
            </a:r>
            <a:r>
              <a:rPr spc="-25" dirty="0"/>
              <a:t> </a:t>
            </a:r>
            <a:r>
              <a:rPr dirty="0"/>
              <a:t>arquitectura</a:t>
            </a:r>
            <a:r>
              <a:rPr spc="-20" dirty="0"/>
              <a:t> </a:t>
            </a:r>
            <a:r>
              <a:rPr dirty="0"/>
              <a:t>tradicional</a:t>
            </a:r>
            <a:r>
              <a:rPr spc="-2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aplicaciones</a:t>
            </a:r>
            <a:r>
              <a:rPr spc="-20" dirty="0"/>
              <a:t> </a:t>
            </a:r>
            <a:r>
              <a:rPr spc="-10" dirty="0"/>
              <a:t>empresariales. </a:t>
            </a:r>
            <a:r>
              <a:rPr dirty="0"/>
              <a:t>Las</a:t>
            </a:r>
            <a:r>
              <a:rPr spc="-35" dirty="0"/>
              <a:t> </a:t>
            </a:r>
            <a:r>
              <a:rPr dirty="0"/>
              <a:t>dependencias</a:t>
            </a:r>
            <a:r>
              <a:rPr spc="-20" dirty="0"/>
              <a:t> </a:t>
            </a:r>
            <a:r>
              <a:rPr dirty="0"/>
              <a:t>se</a:t>
            </a:r>
            <a:r>
              <a:rPr spc="-20" dirty="0"/>
              <a:t> </a:t>
            </a:r>
            <a:r>
              <a:rPr dirty="0"/>
              <a:t>gestionan</a:t>
            </a:r>
            <a:r>
              <a:rPr spc="-20" dirty="0"/>
              <a:t> </a:t>
            </a:r>
            <a:r>
              <a:rPr dirty="0"/>
              <a:t>dividiendo</a:t>
            </a:r>
            <a:r>
              <a:rPr spc="-2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aplicación</a:t>
            </a:r>
            <a:r>
              <a:rPr spc="-2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capas</a:t>
            </a:r>
            <a:r>
              <a:rPr spc="-20" dirty="0"/>
              <a:t> </a:t>
            </a:r>
            <a:r>
              <a:rPr spc="-25" dirty="0"/>
              <a:t>que </a:t>
            </a:r>
            <a:r>
              <a:rPr dirty="0"/>
              <a:t>realizan</a:t>
            </a:r>
            <a:r>
              <a:rPr spc="-35" dirty="0"/>
              <a:t> </a:t>
            </a:r>
            <a:r>
              <a:rPr dirty="0"/>
              <a:t>funciones</a:t>
            </a:r>
            <a:r>
              <a:rPr spc="-30" dirty="0"/>
              <a:t> </a:t>
            </a:r>
            <a:r>
              <a:rPr dirty="0"/>
              <a:t>lógicas,</a:t>
            </a:r>
            <a:r>
              <a:rPr spc="-30" dirty="0"/>
              <a:t> </a:t>
            </a:r>
            <a:r>
              <a:rPr dirty="0"/>
              <a:t>como</a:t>
            </a:r>
            <a:r>
              <a:rPr spc="-30" dirty="0"/>
              <a:t> </a:t>
            </a:r>
            <a:r>
              <a:rPr dirty="0"/>
              <a:t>presentación,</a:t>
            </a:r>
            <a:r>
              <a:rPr spc="-30" dirty="0"/>
              <a:t> </a:t>
            </a:r>
            <a:r>
              <a:rPr dirty="0"/>
              <a:t>lógica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negocio</a:t>
            </a:r>
            <a:r>
              <a:rPr spc="-30" dirty="0"/>
              <a:t> </a:t>
            </a:r>
            <a:r>
              <a:rPr spc="-50" dirty="0"/>
              <a:t>y </a:t>
            </a:r>
            <a:r>
              <a:rPr dirty="0"/>
              <a:t>acceso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datos.</a:t>
            </a:r>
            <a:r>
              <a:rPr spc="-15" dirty="0"/>
              <a:t> </a:t>
            </a:r>
            <a:r>
              <a:rPr dirty="0"/>
              <a:t>Una</a:t>
            </a:r>
            <a:r>
              <a:rPr spc="-15" dirty="0"/>
              <a:t> </a:t>
            </a:r>
            <a:r>
              <a:rPr dirty="0"/>
              <a:t>capa</a:t>
            </a:r>
            <a:r>
              <a:rPr spc="-15" dirty="0"/>
              <a:t> </a:t>
            </a:r>
            <a:r>
              <a:rPr dirty="0"/>
              <a:t>solo</a:t>
            </a:r>
            <a:r>
              <a:rPr spc="-15" dirty="0"/>
              <a:t> </a:t>
            </a:r>
            <a:r>
              <a:rPr dirty="0"/>
              <a:t>puede</a:t>
            </a:r>
            <a:r>
              <a:rPr spc="-15" dirty="0"/>
              <a:t> </a:t>
            </a:r>
            <a:r>
              <a:rPr dirty="0"/>
              <a:t>llamar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las</a:t>
            </a:r>
            <a:r>
              <a:rPr spc="-15" dirty="0"/>
              <a:t> </a:t>
            </a:r>
            <a:r>
              <a:rPr dirty="0"/>
              <a:t>capas</a:t>
            </a:r>
            <a:r>
              <a:rPr spc="-15" dirty="0"/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spc="-25" dirty="0"/>
              <a:t>se </a:t>
            </a:r>
            <a:r>
              <a:rPr dirty="0"/>
              <a:t>encuentran</a:t>
            </a:r>
            <a:r>
              <a:rPr spc="-35" dirty="0"/>
              <a:t> </a:t>
            </a:r>
            <a:r>
              <a:rPr dirty="0"/>
              <a:t>por</a:t>
            </a:r>
            <a:r>
              <a:rPr spc="-25" dirty="0"/>
              <a:t> </a:t>
            </a:r>
            <a:r>
              <a:rPr dirty="0"/>
              <a:t>debajo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ella.</a:t>
            </a:r>
            <a:r>
              <a:rPr spc="-20" dirty="0"/>
              <a:t> </a:t>
            </a:r>
            <a:r>
              <a:rPr dirty="0"/>
              <a:t>Sin</a:t>
            </a:r>
            <a:r>
              <a:rPr spc="-25" dirty="0"/>
              <a:t> </a:t>
            </a:r>
            <a:r>
              <a:rPr dirty="0"/>
              <a:t>embargo,</a:t>
            </a:r>
            <a:r>
              <a:rPr spc="-25" dirty="0"/>
              <a:t> </a:t>
            </a:r>
            <a:r>
              <a:rPr dirty="0"/>
              <a:t>este</a:t>
            </a:r>
            <a:r>
              <a:rPr spc="-25" dirty="0"/>
              <a:t> </a:t>
            </a:r>
            <a:r>
              <a:rPr dirty="0"/>
              <a:t>enfoque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capas </a:t>
            </a:r>
            <a:r>
              <a:rPr dirty="0"/>
              <a:t>horizontales</a:t>
            </a:r>
            <a:r>
              <a:rPr spc="-35" dirty="0"/>
              <a:t> </a:t>
            </a:r>
            <a:r>
              <a:rPr dirty="0"/>
              <a:t>puede</a:t>
            </a:r>
            <a:r>
              <a:rPr spc="-20" dirty="0"/>
              <a:t> </a:t>
            </a:r>
            <a:r>
              <a:rPr dirty="0"/>
              <a:t>ser</a:t>
            </a:r>
            <a:r>
              <a:rPr spc="-20" dirty="0"/>
              <a:t> </a:t>
            </a:r>
            <a:r>
              <a:rPr dirty="0"/>
              <a:t>una</a:t>
            </a:r>
            <a:r>
              <a:rPr spc="-20" dirty="0"/>
              <a:t> </a:t>
            </a:r>
            <a:r>
              <a:rPr dirty="0"/>
              <a:t>limitación.</a:t>
            </a:r>
            <a:r>
              <a:rPr spc="-25" dirty="0"/>
              <a:t> </a:t>
            </a:r>
            <a:r>
              <a:rPr dirty="0"/>
              <a:t>Puede</a:t>
            </a:r>
            <a:r>
              <a:rPr spc="-20" dirty="0"/>
              <a:t> </a:t>
            </a:r>
            <a:r>
              <a:rPr dirty="0"/>
              <a:t>resultar</a:t>
            </a:r>
            <a:r>
              <a:rPr spc="-20" dirty="0"/>
              <a:t> </a:t>
            </a:r>
            <a:r>
              <a:rPr dirty="0"/>
              <a:t>difícil</a:t>
            </a:r>
            <a:r>
              <a:rPr spc="-20" dirty="0"/>
              <a:t> </a:t>
            </a:r>
            <a:r>
              <a:rPr spc="-10" dirty="0"/>
              <a:t>introducir </a:t>
            </a:r>
            <a:r>
              <a:rPr dirty="0"/>
              <a:t>cambios</a:t>
            </a:r>
            <a:r>
              <a:rPr spc="-30" dirty="0"/>
              <a:t> </a:t>
            </a:r>
            <a:r>
              <a:rPr dirty="0"/>
              <a:t>en</a:t>
            </a:r>
            <a:r>
              <a:rPr spc="-15" dirty="0"/>
              <a:t> </a:t>
            </a:r>
            <a:r>
              <a:rPr dirty="0"/>
              <a:t>una</a:t>
            </a:r>
            <a:r>
              <a:rPr spc="-15" dirty="0"/>
              <a:t> </a:t>
            </a:r>
            <a:r>
              <a:rPr dirty="0"/>
              <a:t>parte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aplicación</a:t>
            </a:r>
            <a:r>
              <a:rPr spc="-15" dirty="0"/>
              <a:t> </a:t>
            </a:r>
            <a:r>
              <a:rPr dirty="0"/>
              <a:t>sin</a:t>
            </a:r>
            <a:r>
              <a:rPr spc="-15" dirty="0"/>
              <a:t> </a:t>
            </a:r>
            <a:r>
              <a:rPr dirty="0"/>
              <a:t>afectar</a:t>
            </a:r>
            <a:r>
              <a:rPr spc="-15" dirty="0"/>
              <a:t> </a:t>
            </a:r>
            <a:r>
              <a:rPr dirty="0"/>
              <a:t>al</a:t>
            </a:r>
            <a:r>
              <a:rPr spc="-15" dirty="0"/>
              <a:t> </a:t>
            </a:r>
            <a:r>
              <a:rPr dirty="0"/>
              <a:t>resto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spc="-10" dirty="0"/>
              <a:t>misma. </a:t>
            </a:r>
            <a:r>
              <a:rPr dirty="0"/>
              <a:t>Esto</a:t>
            </a:r>
            <a:r>
              <a:rPr spc="-15" dirty="0"/>
              <a:t> </a:t>
            </a:r>
            <a:r>
              <a:rPr dirty="0"/>
              <a:t>dificulta</a:t>
            </a:r>
            <a:r>
              <a:rPr spc="-15" dirty="0"/>
              <a:t> </a:t>
            </a:r>
            <a:r>
              <a:rPr dirty="0"/>
              <a:t>las</a:t>
            </a:r>
            <a:r>
              <a:rPr spc="-15" dirty="0"/>
              <a:t> </a:t>
            </a:r>
            <a:r>
              <a:rPr dirty="0"/>
              <a:t>actualizaciones</a:t>
            </a:r>
            <a:r>
              <a:rPr spc="-15" dirty="0"/>
              <a:t> </a:t>
            </a:r>
            <a:r>
              <a:rPr dirty="0"/>
              <a:t>frecuentes</a:t>
            </a:r>
            <a:r>
              <a:rPr spc="-15" dirty="0"/>
              <a:t> </a:t>
            </a:r>
            <a:r>
              <a:rPr dirty="0"/>
              <a:t>y</a:t>
            </a:r>
            <a:r>
              <a:rPr spc="-10" dirty="0"/>
              <a:t> </a:t>
            </a:r>
            <a:r>
              <a:rPr dirty="0"/>
              <a:t>limita</a:t>
            </a:r>
            <a:r>
              <a:rPr spc="-15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rapidez</a:t>
            </a:r>
            <a:r>
              <a:rPr spc="-15" dirty="0"/>
              <a:t> </a:t>
            </a:r>
            <a:r>
              <a:rPr dirty="0"/>
              <a:t>con</a:t>
            </a:r>
            <a:r>
              <a:rPr spc="-15" dirty="0"/>
              <a:t> </a:t>
            </a:r>
            <a:r>
              <a:rPr dirty="0"/>
              <a:t>la</a:t>
            </a:r>
            <a:r>
              <a:rPr spc="-10" dirty="0"/>
              <a:t> </a:t>
            </a:r>
            <a:r>
              <a:rPr spc="-25" dirty="0"/>
              <a:t>que </a:t>
            </a:r>
            <a:r>
              <a:rPr dirty="0"/>
              <a:t>se</a:t>
            </a:r>
            <a:r>
              <a:rPr spc="-15" dirty="0"/>
              <a:t> </a:t>
            </a:r>
            <a:r>
              <a:rPr dirty="0"/>
              <a:t>pueden</a:t>
            </a:r>
            <a:r>
              <a:rPr spc="-10" dirty="0"/>
              <a:t> </a:t>
            </a:r>
            <a:r>
              <a:rPr dirty="0"/>
              <a:t>agregar</a:t>
            </a:r>
            <a:r>
              <a:rPr spc="-15" dirty="0"/>
              <a:t> </a:t>
            </a:r>
            <a:r>
              <a:rPr dirty="0"/>
              <a:t>nuevas</a:t>
            </a:r>
            <a:r>
              <a:rPr spc="-10" dirty="0"/>
              <a:t> características.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842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28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N-</a:t>
            </a:r>
            <a:r>
              <a:rPr u="heavy" spc="-2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tier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285258"/>
            <a:ext cx="7290434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N-tier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adecuada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migrar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aplicaciones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existentes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capas.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razón,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encuentra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comúnmente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soluciones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infraestructura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(IaaS)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aplicaciones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combinación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IaaS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servicios gestionados.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4735" y="4046545"/>
            <a:ext cx="969264" cy="108781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F92CAB-9592-2F9B-8FB2-46AB43118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87" y="461962"/>
            <a:ext cx="8334963" cy="4219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37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Web-Queue-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Worker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600725"/>
            <a:ext cx="740283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Web-</a:t>
            </a:r>
            <a:r>
              <a:rPr sz="1800" spc="-10" dirty="0">
                <a:latin typeface="Arial MT"/>
                <a:cs typeface="Arial MT"/>
              </a:rPr>
              <a:t>Queue-</a:t>
            </a:r>
            <a:r>
              <a:rPr sz="1800" dirty="0">
                <a:latin typeface="Arial MT"/>
                <a:cs typeface="Arial MT"/>
              </a:rPr>
              <a:t>Worker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solución </a:t>
            </a:r>
            <a:r>
              <a:rPr sz="1800" dirty="0">
                <a:latin typeface="Arial MT"/>
                <a:cs typeface="Arial MT"/>
              </a:rPr>
              <a:t>puramente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PaaS.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aplicación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front-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que </a:t>
            </a:r>
            <a:r>
              <a:rPr sz="1800" dirty="0">
                <a:latin typeface="Arial MT"/>
                <a:cs typeface="Arial MT"/>
              </a:rPr>
              <a:t>maneja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solicitudes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HTTP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trabajador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back-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realiza </a:t>
            </a:r>
            <a:r>
              <a:rPr sz="1800" dirty="0">
                <a:latin typeface="Arial MT"/>
                <a:cs typeface="Arial MT"/>
              </a:rPr>
              <a:t>tareas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intensivas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operaciones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duración.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0" dirty="0">
                <a:latin typeface="Arial MT"/>
                <a:cs typeface="Arial MT"/>
              </a:rPr>
              <a:t> front-</a:t>
            </a:r>
            <a:r>
              <a:rPr sz="1800" spc="-25" dirty="0">
                <a:latin typeface="Arial MT"/>
                <a:cs typeface="Arial MT"/>
              </a:rPr>
              <a:t>end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comunica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trabajador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través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mensajes asincrónica.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37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Web-Queue-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Worker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387365"/>
            <a:ext cx="739584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Web-</a:t>
            </a:r>
            <a:r>
              <a:rPr sz="1800" spc="-10" dirty="0">
                <a:latin typeface="Arial MT"/>
                <a:cs typeface="Arial MT"/>
              </a:rPr>
              <a:t>Queue-</a:t>
            </a:r>
            <a:r>
              <a:rPr sz="1800" dirty="0">
                <a:latin typeface="Arial MT"/>
                <a:cs typeface="Arial MT"/>
              </a:rPr>
              <a:t>Worker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adecuada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dominios </a:t>
            </a:r>
            <a:r>
              <a:rPr sz="1800" dirty="0">
                <a:latin typeface="Arial MT"/>
                <a:cs typeface="Arial MT"/>
              </a:rPr>
              <a:t>relativamente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algunas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tareas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intensivas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recursos.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Al</a:t>
            </a:r>
            <a:r>
              <a:rPr sz="1800" spc="5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igual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N-tier,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fácil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entender.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servicios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gestionados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simplifica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despliegue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operaciones.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Sin </a:t>
            </a:r>
            <a:r>
              <a:rPr sz="1800" dirty="0">
                <a:latin typeface="Arial MT"/>
                <a:cs typeface="Arial MT"/>
              </a:rPr>
              <a:t>embargo,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dominios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complejos,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difícil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dirty="0">
                <a:latin typeface="Arial MT"/>
                <a:cs typeface="Arial MT"/>
              </a:rPr>
              <a:t>dependencias.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front-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trabajador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convertirse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fácilmente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componentes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grandes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monolíticos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difíciles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mantener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 </a:t>
            </a:r>
            <a:r>
              <a:rPr sz="1800" spc="-10" dirty="0">
                <a:latin typeface="Arial MT"/>
                <a:cs typeface="Arial MT"/>
              </a:rPr>
              <a:t>actualizar.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igual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N-tier,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frecuencia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dirty="0">
                <a:latin typeface="Arial MT"/>
                <a:cs typeface="Arial MT"/>
              </a:rPr>
              <a:t>actualizaciones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limitar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innovación.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0831" y="4028262"/>
            <a:ext cx="963168" cy="1093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2594" y="753898"/>
            <a:ext cx="228536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5" dirty="0">
                <a:solidFill>
                  <a:srgbClr val="383838"/>
                </a:solidFill>
              </a:rPr>
              <a:t>Web-Queue-</a:t>
            </a:r>
            <a:r>
              <a:rPr sz="2050" spc="-10" dirty="0">
                <a:solidFill>
                  <a:srgbClr val="383838"/>
                </a:solidFill>
              </a:rPr>
              <a:t>Worker</a:t>
            </a:r>
            <a:endParaRPr sz="205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D96BE0-EEBB-DF7B-E3D7-EE261A3B4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99818"/>
            <a:ext cx="8534400" cy="39783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254" dirty="0"/>
              <a:t> 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Microservicios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5871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Si</a:t>
            </a:r>
            <a:r>
              <a:rPr spc="-25" dirty="0"/>
              <a:t> </a:t>
            </a:r>
            <a:r>
              <a:rPr dirty="0"/>
              <a:t>tu</a:t>
            </a:r>
            <a:r>
              <a:rPr spc="-20" dirty="0"/>
              <a:t> </a:t>
            </a:r>
            <a:r>
              <a:rPr dirty="0"/>
              <a:t>aplicación</a:t>
            </a:r>
            <a:r>
              <a:rPr spc="-25" dirty="0"/>
              <a:t> </a:t>
            </a:r>
            <a:r>
              <a:rPr dirty="0"/>
              <a:t>tiene</a:t>
            </a:r>
            <a:r>
              <a:rPr spc="-20" dirty="0"/>
              <a:t> </a:t>
            </a:r>
            <a:r>
              <a:rPr dirty="0"/>
              <a:t>un</a:t>
            </a:r>
            <a:r>
              <a:rPr spc="-25" dirty="0"/>
              <a:t> </a:t>
            </a:r>
            <a:r>
              <a:rPr dirty="0"/>
              <a:t>dominio</a:t>
            </a:r>
            <a:r>
              <a:rPr spc="-20" dirty="0"/>
              <a:t> </a:t>
            </a:r>
            <a:r>
              <a:rPr dirty="0"/>
              <a:t>más</a:t>
            </a:r>
            <a:r>
              <a:rPr spc="-25" dirty="0"/>
              <a:t> </a:t>
            </a:r>
            <a:r>
              <a:rPr dirty="0"/>
              <a:t>complejo,</a:t>
            </a:r>
            <a:r>
              <a:rPr spc="-20" dirty="0"/>
              <a:t> </a:t>
            </a:r>
            <a:r>
              <a:rPr dirty="0"/>
              <a:t>considera</a:t>
            </a:r>
            <a:r>
              <a:rPr spc="-25" dirty="0"/>
              <a:t> </a:t>
            </a:r>
            <a:r>
              <a:rPr dirty="0"/>
              <a:t>migrar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25" dirty="0"/>
              <a:t>una </a:t>
            </a:r>
            <a:r>
              <a:rPr dirty="0"/>
              <a:t>arquitectura</a:t>
            </a:r>
            <a:r>
              <a:rPr spc="-3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microservicios.</a:t>
            </a:r>
            <a:r>
              <a:rPr spc="-35" dirty="0"/>
              <a:t> </a:t>
            </a:r>
            <a:r>
              <a:rPr dirty="0"/>
              <a:t>Una</a:t>
            </a:r>
            <a:r>
              <a:rPr spc="-30" dirty="0"/>
              <a:t> </a:t>
            </a:r>
            <a:r>
              <a:rPr dirty="0"/>
              <a:t>aplicación</a:t>
            </a:r>
            <a:r>
              <a:rPr spc="-3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microservicios</a:t>
            </a:r>
            <a:r>
              <a:rPr spc="-30" dirty="0"/>
              <a:t> </a:t>
            </a:r>
            <a:r>
              <a:rPr spc="-20" dirty="0"/>
              <a:t>está </a:t>
            </a:r>
            <a:r>
              <a:rPr dirty="0"/>
              <a:t>compuesta</a:t>
            </a:r>
            <a:r>
              <a:rPr spc="-35" dirty="0"/>
              <a:t> </a:t>
            </a:r>
            <a:r>
              <a:rPr dirty="0"/>
              <a:t>por</a:t>
            </a:r>
            <a:r>
              <a:rPr spc="-20" dirty="0"/>
              <a:t> </a:t>
            </a:r>
            <a:r>
              <a:rPr dirty="0"/>
              <a:t>muchos</a:t>
            </a:r>
            <a:r>
              <a:rPr spc="-20" dirty="0"/>
              <a:t> </a:t>
            </a:r>
            <a:r>
              <a:rPr dirty="0"/>
              <a:t>servicios</a:t>
            </a:r>
            <a:r>
              <a:rPr spc="-20" dirty="0"/>
              <a:t> </a:t>
            </a:r>
            <a:r>
              <a:rPr dirty="0"/>
              <a:t>pequeños</a:t>
            </a:r>
            <a:r>
              <a:rPr spc="-20" dirty="0"/>
              <a:t> </a:t>
            </a:r>
            <a:r>
              <a:rPr dirty="0"/>
              <a:t>e</a:t>
            </a:r>
            <a:r>
              <a:rPr spc="-20" dirty="0"/>
              <a:t> </a:t>
            </a:r>
            <a:r>
              <a:rPr dirty="0"/>
              <a:t>independientes.</a:t>
            </a:r>
            <a:r>
              <a:rPr spc="-20" dirty="0"/>
              <a:t> Cada </a:t>
            </a:r>
            <a:r>
              <a:rPr dirty="0"/>
              <a:t>servicio</a:t>
            </a:r>
            <a:r>
              <a:rPr spc="-30" dirty="0"/>
              <a:t> </a:t>
            </a:r>
            <a:r>
              <a:rPr dirty="0"/>
              <a:t>implementa</a:t>
            </a:r>
            <a:r>
              <a:rPr spc="-25" dirty="0"/>
              <a:t> </a:t>
            </a:r>
            <a:r>
              <a:rPr dirty="0"/>
              <a:t>una</a:t>
            </a:r>
            <a:r>
              <a:rPr spc="-25" dirty="0"/>
              <a:t> </a:t>
            </a:r>
            <a:r>
              <a:rPr dirty="0"/>
              <a:t>sola</a:t>
            </a:r>
            <a:r>
              <a:rPr spc="-25" dirty="0"/>
              <a:t> </a:t>
            </a:r>
            <a:r>
              <a:rPr dirty="0"/>
              <a:t>capacidad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negocio.</a:t>
            </a:r>
            <a:r>
              <a:rPr spc="-25" dirty="0"/>
              <a:t> </a:t>
            </a:r>
            <a:r>
              <a:rPr dirty="0"/>
              <a:t>Los</a:t>
            </a:r>
            <a:r>
              <a:rPr spc="-25" dirty="0"/>
              <a:t> </a:t>
            </a:r>
            <a:r>
              <a:rPr dirty="0"/>
              <a:t>servicios</a:t>
            </a:r>
            <a:r>
              <a:rPr spc="-25" dirty="0"/>
              <a:t> </a:t>
            </a:r>
            <a:r>
              <a:rPr spc="-10" dirty="0"/>
              <a:t>están </a:t>
            </a:r>
            <a:r>
              <a:rPr dirty="0"/>
              <a:t>acoplados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forma</a:t>
            </a:r>
            <a:r>
              <a:rPr spc="-20" dirty="0"/>
              <a:t> </a:t>
            </a:r>
            <a:r>
              <a:rPr dirty="0"/>
              <a:t>flexible,</a:t>
            </a:r>
            <a:r>
              <a:rPr spc="-20" dirty="0"/>
              <a:t> </a:t>
            </a:r>
            <a:r>
              <a:rPr dirty="0"/>
              <a:t>comunicándose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través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contratos</a:t>
            </a:r>
            <a:r>
              <a:rPr spc="-15" dirty="0"/>
              <a:t> </a:t>
            </a:r>
            <a:r>
              <a:rPr spc="-25" dirty="0"/>
              <a:t>de </a:t>
            </a:r>
            <a:r>
              <a:rPr spc="-20" dirty="0"/>
              <a:t>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</a:t>
            </a:r>
            <a:r>
              <a:rPr spc="254" dirty="0"/>
              <a:t> 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Microservicios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071898"/>
            <a:ext cx="736790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desarrollado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equipo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desarrollo </a:t>
            </a:r>
            <a:r>
              <a:rPr sz="1800" dirty="0">
                <a:latin typeface="Arial MT"/>
                <a:cs typeface="Arial MT"/>
              </a:rPr>
              <a:t>pequeño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enfocado.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individuales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desplegados </a:t>
            </a:r>
            <a:r>
              <a:rPr sz="1800" dirty="0">
                <a:latin typeface="Arial MT"/>
                <a:cs typeface="Arial MT"/>
              </a:rPr>
              <a:t>sin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mucha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coordinación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equipos,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fomenta </a:t>
            </a:r>
            <a:r>
              <a:rPr sz="1800" dirty="0">
                <a:latin typeface="Arial MT"/>
                <a:cs typeface="Arial MT"/>
              </a:rPr>
              <a:t>actualizaciones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frecuentes.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microservicios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más </a:t>
            </a:r>
            <a:r>
              <a:rPr sz="1800" dirty="0">
                <a:latin typeface="Arial MT"/>
                <a:cs typeface="Arial MT"/>
              </a:rPr>
              <a:t>compleja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construir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N-tier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o</a:t>
            </a:r>
            <a:endParaRPr sz="1800">
              <a:latin typeface="Arial MT"/>
              <a:cs typeface="Arial MT"/>
            </a:endParaRPr>
          </a:p>
          <a:p>
            <a:pPr marL="12700" marR="250825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web-queue-worker.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Requiere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cultura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desarrollo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DevOps </a:t>
            </a:r>
            <a:r>
              <a:rPr sz="1800" dirty="0">
                <a:latin typeface="Arial MT"/>
                <a:cs typeface="Arial MT"/>
              </a:rPr>
              <a:t>madura.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correctamente,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llevar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una </a:t>
            </a:r>
            <a:r>
              <a:rPr sz="1800" dirty="0">
                <a:latin typeface="Arial MT"/>
                <a:cs typeface="Arial MT"/>
              </a:rPr>
              <a:t>mayor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velocidad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lanzamiento,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innovación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rápida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5" dirty="0">
                <a:latin typeface="Arial MT"/>
                <a:cs typeface="Arial MT"/>
              </a:rPr>
              <a:t> una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más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resiliente.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8896" y="3808870"/>
            <a:ext cx="5785104" cy="1325487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81ACAF45-8C39-5BF1-1947-89EC098E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A6758B-10D7-E4BD-661F-25AE7AA8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57" y="514350"/>
            <a:ext cx="827260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143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Arquitecturas</a:t>
            </a:r>
            <a:r>
              <a:rPr u="heavy" spc="85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</a:rPr>
              <a:t> </a:t>
            </a:r>
            <a:r>
              <a:rPr u="heavy" spc="-4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Event-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Driven</a:t>
            </a:r>
            <a:r>
              <a:rPr u="heavy" spc="8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305069"/>
            <a:ext cx="7112634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orientadas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publicación-</a:t>
            </a:r>
            <a:r>
              <a:rPr sz="1800" dirty="0">
                <a:latin typeface="Arial MT"/>
                <a:cs typeface="Arial MT"/>
              </a:rPr>
              <a:t>suscripción</a:t>
            </a:r>
            <a:r>
              <a:rPr sz="1800" spc="-10" dirty="0">
                <a:latin typeface="Arial MT"/>
                <a:cs typeface="Arial MT"/>
              </a:rPr>
              <a:t> (pub-</a:t>
            </a:r>
            <a:r>
              <a:rPr sz="1800" dirty="0">
                <a:latin typeface="Arial MT"/>
                <a:cs typeface="Arial MT"/>
              </a:rPr>
              <a:t>sub),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productores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publican </a:t>
            </a:r>
            <a:r>
              <a:rPr sz="1800" dirty="0">
                <a:latin typeface="Arial MT"/>
                <a:cs typeface="Arial MT"/>
              </a:rPr>
              <a:t>eventos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consumidores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suscriben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ellos.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productores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son </a:t>
            </a:r>
            <a:r>
              <a:rPr sz="1800" dirty="0">
                <a:latin typeface="Arial MT"/>
                <a:cs typeface="Arial MT"/>
              </a:rPr>
              <a:t>independientes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consumidores,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consumidores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son </a:t>
            </a:r>
            <a:r>
              <a:rPr sz="1800" dirty="0">
                <a:latin typeface="Arial MT"/>
                <a:cs typeface="Arial MT"/>
              </a:rPr>
              <a:t>independientes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sí.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143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Arquitecturas</a:t>
            </a:r>
            <a:r>
              <a:rPr u="heavy" spc="85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</a:rPr>
              <a:t> </a:t>
            </a:r>
            <a:r>
              <a:rPr u="heavy" spc="-4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Event-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Driven</a:t>
            </a:r>
            <a:r>
              <a:rPr u="heavy" spc="8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Architectures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5871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Considera</a:t>
            </a:r>
            <a:r>
              <a:rPr spc="-25" dirty="0"/>
              <a:t> </a:t>
            </a:r>
            <a:r>
              <a:rPr dirty="0"/>
              <a:t>una</a:t>
            </a:r>
            <a:r>
              <a:rPr spc="-25" dirty="0"/>
              <a:t> </a:t>
            </a:r>
            <a:r>
              <a:rPr dirty="0"/>
              <a:t>arquitectura</a:t>
            </a:r>
            <a:r>
              <a:rPr spc="-25" dirty="0"/>
              <a:t> </a:t>
            </a:r>
            <a:r>
              <a:rPr dirty="0"/>
              <a:t>orientada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eventos</a:t>
            </a:r>
            <a:r>
              <a:rPr spc="-2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dirty="0"/>
              <a:t>aplicaciones</a:t>
            </a:r>
            <a:r>
              <a:rPr spc="-25" dirty="0"/>
              <a:t> que </a:t>
            </a:r>
            <a:r>
              <a:rPr dirty="0"/>
              <a:t>reciben</a:t>
            </a:r>
            <a:r>
              <a:rPr spc="-30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procesan</a:t>
            </a:r>
            <a:r>
              <a:rPr spc="-20" dirty="0"/>
              <a:t> </a:t>
            </a:r>
            <a:r>
              <a:rPr dirty="0"/>
              <a:t>grandes</a:t>
            </a:r>
            <a:r>
              <a:rPr spc="-15" dirty="0"/>
              <a:t> </a:t>
            </a:r>
            <a:r>
              <a:rPr dirty="0"/>
              <a:t>volúmenes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datos</a:t>
            </a:r>
            <a:r>
              <a:rPr spc="-20" dirty="0"/>
              <a:t> </a:t>
            </a:r>
            <a:r>
              <a:rPr dirty="0"/>
              <a:t>con</a:t>
            </a:r>
            <a:r>
              <a:rPr spc="-15" dirty="0"/>
              <a:t> </a:t>
            </a:r>
            <a:r>
              <a:rPr dirty="0"/>
              <a:t>una</a:t>
            </a:r>
            <a:r>
              <a:rPr spc="-20" dirty="0"/>
              <a:t> </a:t>
            </a:r>
            <a:r>
              <a:rPr dirty="0"/>
              <a:t>latencia</a:t>
            </a:r>
            <a:r>
              <a:rPr spc="-15" dirty="0"/>
              <a:t> </a:t>
            </a:r>
            <a:r>
              <a:rPr spc="-25" dirty="0"/>
              <a:t>muy </a:t>
            </a:r>
            <a:r>
              <a:rPr dirty="0"/>
              <a:t>baja,</a:t>
            </a:r>
            <a:r>
              <a:rPr spc="-25" dirty="0"/>
              <a:t> </a:t>
            </a:r>
            <a:r>
              <a:rPr dirty="0"/>
              <a:t>como</a:t>
            </a:r>
            <a:r>
              <a:rPr spc="-25" dirty="0"/>
              <a:t> </a:t>
            </a:r>
            <a:r>
              <a:rPr dirty="0"/>
              <a:t>las</a:t>
            </a:r>
            <a:r>
              <a:rPr spc="-25" dirty="0"/>
              <a:t> </a:t>
            </a:r>
            <a:r>
              <a:rPr dirty="0"/>
              <a:t>soluciones</a:t>
            </a:r>
            <a:r>
              <a:rPr spc="-2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35" dirty="0"/>
              <a:t>IoT.</a:t>
            </a:r>
            <a:r>
              <a:rPr spc="-25" dirty="0"/>
              <a:t> </a:t>
            </a:r>
            <a:r>
              <a:rPr dirty="0"/>
              <a:t>Este</a:t>
            </a:r>
            <a:r>
              <a:rPr spc="-25" dirty="0"/>
              <a:t> </a:t>
            </a:r>
            <a:r>
              <a:rPr dirty="0"/>
              <a:t>estilo</a:t>
            </a:r>
            <a:r>
              <a:rPr spc="-20" dirty="0"/>
              <a:t> </a:t>
            </a:r>
            <a:r>
              <a:rPr dirty="0"/>
              <a:t>también</a:t>
            </a:r>
            <a:r>
              <a:rPr spc="-25" dirty="0"/>
              <a:t> </a:t>
            </a:r>
            <a:r>
              <a:rPr dirty="0"/>
              <a:t>es</a:t>
            </a:r>
            <a:r>
              <a:rPr spc="-25" dirty="0"/>
              <a:t> </a:t>
            </a:r>
            <a:r>
              <a:rPr dirty="0"/>
              <a:t>útil</a:t>
            </a:r>
            <a:r>
              <a:rPr spc="-25" dirty="0"/>
              <a:t> </a:t>
            </a:r>
            <a:r>
              <a:rPr spc="-10" dirty="0"/>
              <a:t>cuando </a:t>
            </a:r>
            <a:r>
              <a:rPr dirty="0"/>
              <a:t>diferentes</a:t>
            </a:r>
            <a:r>
              <a:rPr spc="-20" dirty="0"/>
              <a:t> </a:t>
            </a:r>
            <a:r>
              <a:rPr dirty="0"/>
              <a:t>subsistemas</a:t>
            </a:r>
            <a:r>
              <a:rPr spc="-10" dirty="0"/>
              <a:t> </a:t>
            </a:r>
            <a:r>
              <a:rPr dirty="0"/>
              <a:t>deben</a:t>
            </a:r>
            <a:r>
              <a:rPr spc="-10" dirty="0"/>
              <a:t> </a:t>
            </a:r>
            <a:r>
              <a:rPr dirty="0"/>
              <a:t>realizar</a:t>
            </a:r>
            <a:r>
              <a:rPr spc="-5" dirty="0"/>
              <a:t> </a:t>
            </a:r>
            <a:r>
              <a:rPr dirty="0"/>
              <a:t>diferentes</a:t>
            </a:r>
            <a:r>
              <a:rPr spc="-10" dirty="0"/>
              <a:t> </a:t>
            </a:r>
            <a:r>
              <a:rPr dirty="0"/>
              <a:t>tipos</a:t>
            </a:r>
            <a:r>
              <a:rPr spc="-1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procesamiento </a:t>
            </a:r>
            <a:r>
              <a:rPr dirty="0"/>
              <a:t>en</a:t>
            </a:r>
            <a:r>
              <a:rPr spc="-10" dirty="0"/>
              <a:t> </a:t>
            </a:r>
            <a:r>
              <a:rPr dirty="0"/>
              <a:t>los</a:t>
            </a:r>
            <a:r>
              <a:rPr spc="-5" dirty="0"/>
              <a:t> </a:t>
            </a:r>
            <a:r>
              <a:rPr dirty="0"/>
              <a:t>mismos</a:t>
            </a:r>
            <a:r>
              <a:rPr spc="-10" dirty="0"/>
              <a:t> </a:t>
            </a:r>
            <a:r>
              <a:rPr dirty="0"/>
              <a:t>datos</a:t>
            </a:r>
            <a:r>
              <a:rPr spc="-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eventos.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7783" y="4052639"/>
            <a:ext cx="966216" cy="1081719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4079756-82E5-B5E6-C08C-7CC99CAB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9102B5-4C97-78C1-E014-1A013C742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5923"/>
            <a:ext cx="8439521" cy="35467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5895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Arquitecturas</a:t>
            </a:r>
            <a:r>
              <a:rPr spc="-2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Big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2"/>
              </a:rPr>
              <a:t>Data</a:t>
            </a:r>
            <a:r>
              <a:rPr spc="-160" dirty="0">
                <a:solidFill>
                  <a:srgbClr val="4A86E7"/>
                </a:solidFill>
              </a:rPr>
              <a:t> </a:t>
            </a:r>
            <a:r>
              <a:rPr spc="-185" dirty="0"/>
              <a:t>&amp;</a:t>
            </a:r>
            <a:r>
              <a:rPr spc="-10" dirty="0"/>
              <a:t> </a:t>
            </a:r>
            <a:r>
              <a:rPr u="heavy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3"/>
              </a:rPr>
              <a:t>Big</a:t>
            </a:r>
            <a:r>
              <a:rPr u="heavy" spc="-10" dirty="0">
                <a:solidFill>
                  <a:srgbClr val="4A86E7"/>
                </a:solidFill>
                <a:uFill>
                  <a:solidFill>
                    <a:srgbClr val="4A86E7"/>
                  </a:solidFill>
                </a:uFill>
                <a:hlinkClick r:id="rId3"/>
              </a:rPr>
              <a:t> Compute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094757"/>
            <a:ext cx="7327265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especializados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para </a:t>
            </a:r>
            <a:r>
              <a:rPr sz="1800" dirty="0">
                <a:latin typeface="Arial MT"/>
                <a:cs typeface="Arial MT"/>
              </a:rPr>
              <a:t>cargas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trabajo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ajustan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perfiles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específicos.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divide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fragmentos,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realizando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 </a:t>
            </a:r>
            <a:r>
              <a:rPr sz="1800" dirty="0">
                <a:latin typeface="Arial MT"/>
                <a:cs typeface="Arial MT"/>
              </a:rPr>
              <a:t>procesamiento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paralelo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análisis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informes.</a:t>
            </a:r>
            <a:r>
              <a:rPr sz="1800" spc="-25" dirty="0">
                <a:latin typeface="Arial MT"/>
                <a:cs typeface="Arial MT"/>
              </a:rPr>
              <a:t> Big </a:t>
            </a:r>
            <a:r>
              <a:rPr sz="1800" dirty="0">
                <a:latin typeface="Arial MT"/>
                <a:cs typeface="Arial MT"/>
              </a:rPr>
              <a:t>Compute,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también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conocido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cómputo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rendimiento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(HPC), </a:t>
            </a:r>
            <a:r>
              <a:rPr sz="1800" dirty="0">
                <a:latin typeface="Arial MT"/>
                <a:cs typeface="Arial MT"/>
              </a:rPr>
              <a:t>realiza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cálculos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paralelos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número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(miles)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núcleos.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Los </a:t>
            </a:r>
            <a:r>
              <a:rPr sz="1800" dirty="0">
                <a:latin typeface="Arial MT"/>
                <a:cs typeface="Arial MT"/>
              </a:rPr>
              <a:t>dominios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incluyen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simulaciones,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modelado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renderizado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3D.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4735" y="4046545"/>
            <a:ext cx="969264" cy="1087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0219" y="853944"/>
            <a:ext cx="274637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3B3B3B"/>
                </a:solidFill>
              </a:rPr>
              <a:t>Big</a:t>
            </a:r>
            <a:r>
              <a:rPr sz="2150" spc="-85" dirty="0">
                <a:solidFill>
                  <a:srgbClr val="3B3B3B"/>
                </a:solidFill>
              </a:rPr>
              <a:t> </a:t>
            </a:r>
            <a:r>
              <a:rPr sz="2150" spc="-10" dirty="0">
                <a:solidFill>
                  <a:srgbClr val="3B3B3B"/>
                </a:solidFill>
              </a:rPr>
              <a:t>Data,</a:t>
            </a:r>
            <a:r>
              <a:rPr sz="2150" spc="-85" dirty="0">
                <a:solidFill>
                  <a:srgbClr val="3B3B3B"/>
                </a:solidFill>
              </a:rPr>
              <a:t> </a:t>
            </a:r>
            <a:r>
              <a:rPr sz="2150" dirty="0">
                <a:solidFill>
                  <a:srgbClr val="383838"/>
                </a:solidFill>
              </a:rPr>
              <a:t>Big</a:t>
            </a:r>
            <a:r>
              <a:rPr sz="2150" spc="-120" dirty="0">
                <a:solidFill>
                  <a:srgbClr val="383838"/>
                </a:solidFill>
              </a:rPr>
              <a:t> </a:t>
            </a:r>
            <a:r>
              <a:rPr sz="2150" spc="-20" dirty="0">
                <a:solidFill>
                  <a:srgbClr val="363636"/>
                </a:solidFill>
              </a:rPr>
              <a:t>Compute</a:t>
            </a:r>
            <a:endParaRPr sz="215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EBD738-1B6A-EFD8-F0D6-FC2EE3DC9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11689"/>
            <a:ext cx="8501195" cy="35778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5390">
              <a:lnSpc>
                <a:spcPct val="100000"/>
              </a:lnSpc>
              <a:spcBef>
                <a:spcPts val="100"/>
              </a:spcBef>
            </a:pPr>
            <a:r>
              <a:rPr b="1" spc="-35" dirty="0"/>
              <a:t>Estilos</a:t>
            </a:r>
            <a:r>
              <a:rPr b="1" spc="15" dirty="0"/>
              <a:t> </a:t>
            </a:r>
            <a:r>
              <a:rPr b="1" dirty="0"/>
              <a:t>de</a:t>
            </a:r>
            <a:r>
              <a:rPr b="1" spc="20" dirty="0"/>
              <a:t> </a:t>
            </a:r>
            <a:r>
              <a:rPr b="1" dirty="0"/>
              <a:t>arquitectura</a:t>
            </a:r>
            <a:r>
              <a:rPr b="1" spc="15" dirty="0"/>
              <a:t> </a:t>
            </a:r>
            <a:r>
              <a:rPr b="1" spc="50" dirty="0"/>
              <a:t>como</a:t>
            </a:r>
            <a:r>
              <a:rPr b="1" spc="100" dirty="0"/>
              <a:t> </a:t>
            </a:r>
            <a:r>
              <a:rPr b="1" spc="-10" dirty="0"/>
              <a:t>restricciones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201438"/>
            <a:ext cx="717550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impone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diseño,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incluyendo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aparecer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relaciones </a:t>
            </a:r>
            <a:r>
              <a:rPr sz="1800" dirty="0">
                <a:latin typeface="Arial MT"/>
                <a:cs typeface="Arial MT"/>
              </a:rPr>
              <a:t>permitidas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elementos.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guían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"forma"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restringir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universo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opciones.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Cuando</a:t>
            </a:r>
            <a:r>
              <a:rPr sz="1800" spc="-25" dirty="0">
                <a:latin typeface="Arial MT"/>
                <a:cs typeface="Arial MT"/>
              </a:rPr>
              <a:t> una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ajusta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particular,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surgen </a:t>
            </a:r>
            <a:r>
              <a:rPr sz="1800" dirty="0">
                <a:latin typeface="Arial MT"/>
                <a:cs typeface="Arial MT"/>
              </a:rPr>
              <a:t>ciertas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propiedades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deseables.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5390">
              <a:lnSpc>
                <a:spcPct val="100000"/>
              </a:lnSpc>
              <a:spcBef>
                <a:spcPts val="100"/>
              </a:spcBef>
            </a:pPr>
            <a:r>
              <a:rPr b="1" spc="-35" dirty="0"/>
              <a:t>Estilos</a:t>
            </a:r>
            <a:r>
              <a:rPr b="1" spc="15" dirty="0"/>
              <a:t> </a:t>
            </a:r>
            <a:r>
              <a:rPr b="1" dirty="0"/>
              <a:t>de</a:t>
            </a:r>
            <a:r>
              <a:rPr b="1" spc="20" dirty="0"/>
              <a:t> </a:t>
            </a:r>
            <a:r>
              <a:rPr b="1" dirty="0"/>
              <a:t>arquitectura</a:t>
            </a:r>
            <a:r>
              <a:rPr b="1" spc="15" dirty="0"/>
              <a:t> </a:t>
            </a:r>
            <a:r>
              <a:rPr b="1" spc="50" dirty="0"/>
              <a:t>como</a:t>
            </a:r>
            <a:r>
              <a:rPr b="1" spc="100" dirty="0"/>
              <a:t> </a:t>
            </a:r>
            <a:r>
              <a:rPr b="1" spc="-10" dirty="0"/>
              <a:t>restricciones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433086"/>
            <a:ext cx="7366000" cy="320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ejemplo,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microservicios</a:t>
            </a:r>
            <a:r>
              <a:rPr sz="1800" spc="-10" dirty="0">
                <a:latin typeface="Arial MT"/>
                <a:cs typeface="Arial MT"/>
              </a:rPr>
              <a:t> incluyen: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1820"/>
              </a:spcBef>
              <a:buChar char="-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responsabilidad.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independiente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demás.</a:t>
            </a:r>
            <a:endParaRPr sz="1800">
              <a:latin typeface="Arial MT"/>
              <a:cs typeface="Arial MT"/>
            </a:endParaRPr>
          </a:p>
          <a:p>
            <a:pPr marL="469900" marR="5080" indent="-304800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privados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posee.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0" dirty="0">
                <a:latin typeface="Arial MT"/>
                <a:cs typeface="Arial MT"/>
              </a:rPr>
              <a:t> servicios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comparten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datos.</a:t>
            </a:r>
            <a:endParaRPr sz="1800">
              <a:latin typeface="Arial MT"/>
              <a:cs typeface="Arial MT"/>
            </a:endParaRPr>
          </a:p>
          <a:p>
            <a:pPr marL="12700" marR="17145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adherirse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emerge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el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desplegados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manera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independiente,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dirty="0">
                <a:latin typeface="Arial MT"/>
                <a:cs typeface="Arial MT"/>
              </a:rPr>
              <a:t>fallas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aisladas,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actualizaciones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frecuentes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posibles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es </a:t>
            </a:r>
            <a:r>
              <a:rPr sz="1800" dirty="0">
                <a:latin typeface="Arial MT"/>
                <a:cs typeface="Arial MT"/>
              </a:rPr>
              <a:t>fácil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introducir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nuevas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tecnologías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aplicación.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5390">
              <a:lnSpc>
                <a:spcPct val="100000"/>
              </a:lnSpc>
              <a:spcBef>
                <a:spcPts val="100"/>
              </a:spcBef>
            </a:pPr>
            <a:r>
              <a:rPr b="1" spc="-35" dirty="0"/>
              <a:t>Estilos</a:t>
            </a:r>
            <a:r>
              <a:rPr b="1" spc="15" dirty="0"/>
              <a:t> </a:t>
            </a:r>
            <a:r>
              <a:rPr b="1" dirty="0"/>
              <a:t>de</a:t>
            </a:r>
            <a:r>
              <a:rPr b="1" spc="20" dirty="0"/>
              <a:t> </a:t>
            </a:r>
            <a:r>
              <a:rPr b="1" dirty="0"/>
              <a:t>arquitectura</a:t>
            </a:r>
            <a:r>
              <a:rPr b="1" spc="15" dirty="0"/>
              <a:t> </a:t>
            </a:r>
            <a:r>
              <a:rPr b="1" spc="50" dirty="0"/>
              <a:t>como</a:t>
            </a:r>
            <a:r>
              <a:rPr b="1" spc="100" dirty="0"/>
              <a:t> </a:t>
            </a:r>
            <a:r>
              <a:rPr b="1" spc="-10" dirty="0"/>
              <a:t>restricciones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Antes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elegir</a:t>
            </a:r>
            <a:r>
              <a:rPr spc="-20" dirty="0"/>
              <a:t> </a:t>
            </a:r>
            <a:r>
              <a:rPr dirty="0"/>
              <a:t>un</a:t>
            </a:r>
            <a:r>
              <a:rPr spc="-20" dirty="0"/>
              <a:t> </a:t>
            </a:r>
            <a:r>
              <a:rPr dirty="0"/>
              <a:t>estilo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arquitectura,</a:t>
            </a:r>
            <a:r>
              <a:rPr spc="-20" dirty="0"/>
              <a:t> </a:t>
            </a:r>
            <a:r>
              <a:rPr dirty="0"/>
              <a:t>asegúrate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comprender</a:t>
            </a:r>
            <a:r>
              <a:rPr spc="-15" dirty="0"/>
              <a:t> </a:t>
            </a:r>
            <a:r>
              <a:rPr spc="-25" dirty="0"/>
              <a:t>los </a:t>
            </a:r>
            <a:r>
              <a:rPr dirty="0"/>
              <a:t>principios</a:t>
            </a:r>
            <a:r>
              <a:rPr spc="-15" dirty="0"/>
              <a:t> </a:t>
            </a:r>
            <a:r>
              <a:rPr dirty="0"/>
              <a:t>y</a:t>
            </a:r>
            <a:r>
              <a:rPr spc="-10" dirty="0"/>
              <a:t> </a:t>
            </a:r>
            <a:r>
              <a:rPr dirty="0"/>
              <a:t>restricciones</a:t>
            </a:r>
            <a:r>
              <a:rPr spc="-10" dirty="0"/>
              <a:t> </a:t>
            </a:r>
            <a:r>
              <a:rPr dirty="0"/>
              <a:t>subyacentes</a:t>
            </a:r>
            <a:r>
              <a:rPr spc="-1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ese</a:t>
            </a:r>
            <a:r>
              <a:rPr spc="-10" dirty="0"/>
              <a:t> </a:t>
            </a:r>
            <a:r>
              <a:rPr dirty="0"/>
              <a:t>estilo.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lo</a:t>
            </a:r>
            <a:r>
              <a:rPr spc="-10" dirty="0"/>
              <a:t> contrario, </a:t>
            </a:r>
            <a:r>
              <a:rPr dirty="0"/>
              <a:t>puedes</a:t>
            </a:r>
            <a:r>
              <a:rPr spc="-25" dirty="0"/>
              <a:t> </a:t>
            </a:r>
            <a:r>
              <a:rPr dirty="0"/>
              <a:t>terminar</a:t>
            </a:r>
            <a:r>
              <a:rPr spc="-15" dirty="0"/>
              <a:t> </a:t>
            </a:r>
            <a:r>
              <a:rPr dirty="0"/>
              <a:t>con</a:t>
            </a:r>
            <a:r>
              <a:rPr spc="-15" dirty="0"/>
              <a:t> </a:t>
            </a:r>
            <a:r>
              <a:rPr dirty="0"/>
              <a:t>un</a:t>
            </a:r>
            <a:r>
              <a:rPr spc="-15" dirty="0"/>
              <a:t> </a:t>
            </a:r>
            <a:r>
              <a:rPr dirty="0"/>
              <a:t>diseño</a:t>
            </a:r>
            <a:r>
              <a:rPr spc="-15" dirty="0"/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dirty="0"/>
              <a:t>cumpla</a:t>
            </a:r>
            <a:r>
              <a:rPr spc="-15" dirty="0"/>
              <a:t> </a:t>
            </a:r>
            <a:r>
              <a:rPr dirty="0"/>
              <a:t>con</a:t>
            </a:r>
            <a:r>
              <a:rPr spc="-15" dirty="0"/>
              <a:t> </a:t>
            </a:r>
            <a:r>
              <a:rPr dirty="0"/>
              <a:t>el</a:t>
            </a:r>
            <a:r>
              <a:rPr spc="-15" dirty="0"/>
              <a:t> </a:t>
            </a:r>
            <a:r>
              <a:rPr dirty="0"/>
              <a:t>estilo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un</a:t>
            </a:r>
            <a:r>
              <a:rPr spc="-15" dirty="0"/>
              <a:t> </a:t>
            </a:r>
            <a:r>
              <a:rPr spc="-10" dirty="0"/>
              <a:t>nivel </a:t>
            </a:r>
            <a:r>
              <a:rPr dirty="0"/>
              <a:t>superficial,</a:t>
            </a:r>
            <a:r>
              <a:rPr spc="-40" dirty="0"/>
              <a:t> </a:t>
            </a:r>
            <a:r>
              <a:rPr dirty="0"/>
              <a:t>pero</a:t>
            </a:r>
            <a:r>
              <a:rPr spc="-25" dirty="0"/>
              <a:t> </a:t>
            </a:r>
            <a:r>
              <a:rPr dirty="0"/>
              <a:t>que</a:t>
            </a:r>
            <a:r>
              <a:rPr spc="-25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dirty="0"/>
              <a:t>alcance</a:t>
            </a:r>
            <a:r>
              <a:rPr spc="-25" dirty="0"/>
              <a:t> </a:t>
            </a:r>
            <a:r>
              <a:rPr dirty="0"/>
              <a:t>todo</a:t>
            </a:r>
            <a:r>
              <a:rPr spc="-25" dirty="0"/>
              <a:t> </a:t>
            </a:r>
            <a:r>
              <a:rPr dirty="0"/>
              <a:t>el</a:t>
            </a:r>
            <a:r>
              <a:rPr spc="-25" dirty="0"/>
              <a:t> </a:t>
            </a:r>
            <a:r>
              <a:rPr dirty="0"/>
              <a:t>potencial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ese</a:t>
            </a:r>
            <a:r>
              <a:rPr spc="-25" dirty="0"/>
              <a:t> </a:t>
            </a:r>
            <a:r>
              <a:rPr dirty="0"/>
              <a:t>estilo.</a:t>
            </a:r>
            <a:r>
              <a:rPr spc="-55" dirty="0"/>
              <a:t> </a:t>
            </a:r>
            <a:r>
              <a:rPr spc="-10" dirty="0"/>
              <a:t>También </a:t>
            </a:r>
            <a:r>
              <a:rPr dirty="0"/>
              <a:t>es</a:t>
            </a:r>
            <a:r>
              <a:rPr spc="-10" dirty="0"/>
              <a:t> </a:t>
            </a:r>
            <a:r>
              <a:rPr dirty="0"/>
              <a:t>importante</a:t>
            </a:r>
            <a:r>
              <a:rPr spc="-10" dirty="0"/>
              <a:t> </a:t>
            </a:r>
            <a:r>
              <a:rPr dirty="0"/>
              <a:t>ser</a:t>
            </a:r>
            <a:r>
              <a:rPr spc="-10" dirty="0"/>
              <a:t> pragmático.</a:t>
            </a:r>
            <a:r>
              <a:rPr spc="-11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dirty="0"/>
              <a:t>veces</a:t>
            </a:r>
            <a:r>
              <a:rPr spc="-10" dirty="0"/>
              <a:t> </a:t>
            </a:r>
            <a:r>
              <a:rPr dirty="0"/>
              <a:t>es</a:t>
            </a:r>
            <a:r>
              <a:rPr spc="-10" dirty="0"/>
              <a:t> </a:t>
            </a:r>
            <a:r>
              <a:rPr dirty="0"/>
              <a:t>mejor</a:t>
            </a:r>
            <a:r>
              <a:rPr spc="-10" dirty="0"/>
              <a:t> </a:t>
            </a:r>
            <a:r>
              <a:rPr dirty="0"/>
              <a:t>relajar</a:t>
            </a:r>
            <a:r>
              <a:rPr spc="-10" dirty="0"/>
              <a:t> </a:t>
            </a:r>
            <a:r>
              <a:rPr dirty="0"/>
              <a:t>una</a:t>
            </a:r>
            <a:r>
              <a:rPr spc="-10" dirty="0"/>
              <a:t> </a:t>
            </a:r>
            <a:r>
              <a:rPr dirty="0"/>
              <a:t>restricción</a:t>
            </a:r>
            <a:r>
              <a:rPr spc="35" dirty="0"/>
              <a:t> </a:t>
            </a:r>
            <a:r>
              <a:rPr spc="-25" dirty="0"/>
              <a:t>en </a:t>
            </a:r>
            <a:r>
              <a:rPr dirty="0"/>
              <a:t>lugar</a:t>
            </a:r>
            <a:r>
              <a:rPr spc="-25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insistir</a:t>
            </a:r>
            <a:r>
              <a:rPr spc="-10" dirty="0"/>
              <a:t> </a:t>
            </a:r>
            <a:r>
              <a:rPr dirty="0"/>
              <a:t>en</a:t>
            </a:r>
            <a:r>
              <a:rPr spc="-15" dirty="0"/>
              <a:t> </a:t>
            </a:r>
            <a:r>
              <a:rPr dirty="0"/>
              <a:t>la</a:t>
            </a:r>
            <a:r>
              <a:rPr spc="-10" dirty="0"/>
              <a:t> </a:t>
            </a:r>
            <a:r>
              <a:rPr dirty="0"/>
              <a:t>pureza</a:t>
            </a:r>
            <a:r>
              <a:rPr spc="-10" dirty="0"/>
              <a:t> arquitectónica.</a:t>
            </a:r>
          </a:p>
          <a:p>
            <a:pPr marL="12700" marR="45085">
              <a:lnSpc>
                <a:spcPct val="114999"/>
              </a:lnSpc>
              <a:spcBef>
                <a:spcPts val="1500"/>
              </a:spcBef>
            </a:pPr>
            <a:r>
              <a:rPr dirty="0"/>
              <a:t>La</a:t>
            </a:r>
            <a:r>
              <a:rPr spc="-25" dirty="0"/>
              <a:t> </a:t>
            </a:r>
            <a:r>
              <a:rPr dirty="0"/>
              <a:t>siguiente</a:t>
            </a:r>
            <a:r>
              <a:rPr spc="-25" dirty="0"/>
              <a:t> </a:t>
            </a:r>
            <a:r>
              <a:rPr dirty="0"/>
              <a:t>tabla</a:t>
            </a:r>
            <a:r>
              <a:rPr spc="-20" dirty="0"/>
              <a:t> </a:t>
            </a:r>
            <a:r>
              <a:rPr dirty="0"/>
              <a:t>resume</a:t>
            </a:r>
            <a:r>
              <a:rPr spc="-25" dirty="0"/>
              <a:t> </a:t>
            </a:r>
            <a:r>
              <a:rPr dirty="0"/>
              <a:t>cómo</a:t>
            </a:r>
            <a:r>
              <a:rPr spc="-20" dirty="0"/>
              <a:t> </a:t>
            </a:r>
            <a:r>
              <a:rPr dirty="0"/>
              <a:t>cada</a:t>
            </a:r>
            <a:r>
              <a:rPr spc="-25" dirty="0"/>
              <a:t> </a:t>
            </a:r>
            <a:r>
              <a:rPr dirty="0"/>
              <a:t>estilo</a:t>
            </a:r>
            <a:r>
              <a:rPr spc="-25" dirty="0"/>
              <a:t> </a:t>
            </a:r>
            <a:r>
              <a:rPr dirty="0"/>
              <a:t>gestiona</a:t>
            </a:r>
            <a:r>
              <a:rPr spc="-20" dirty="0"/>
              <a:t> </a:t>
            </a:r>
            <a:r>
              <a:rPr dirty="0"/>
              <a:t>las</a:t>
            </a:r>
            <a:r>
              <a:rPr spc="-25" dirty="0"/>
              <a:t> </a:t>
            </a:r>
            <a:r>
              <a:rPr dirty="0"/>
              <a:t>dependencias</a:t>
            </a:r>
            <a:r>
              <a:rPr spc="-20" dirty="0"/>
              <a:t> </a:t>
            </a:r>
            <a:r>
              <a:rPr spc="-50" dirty="0"/>
              <a:t>y </a:t>
            </a:r>
            <a:r>
              <a:rPr dirty="0"/>
              <a:t>los</a:t>
            </a:r>
            <a:r>
              <a:rPr spc="-15" dirty="0"/>
              <a:t> </a:t>
            </a:r>
            <a:r>
              <a:rPr dirty="0"/>
              <a:t>tipos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dominio</a:t>
            </a:r>
            <a:r>
              <a:rPr spc="-10" dirty="0"/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dirty="0"/>
              <a:t>son</a:t>
            </a:r>
            <a:r>
              <a:rPr spc="-15" dirty="0"/>
              <a:t> </a:t>
            </a:r>
            <a:r>
              <a:rPr dirty="0"/>
              <a:t>más</a:t>
            </a:r>
            <a:r>
              <a:rPr spc="-10" dirty="0"/>
              <a:t> </a:t>
            </a:r>
            <a:r>
              <a:rPr dirty="0"/>
              <a:t>adecuados</a:t>
            </a:r>
            <a:r>
              <a:rPr spc="-15" dirty="0"/>
              <a:t> </a:t>
            </a:r>
            <a:r>
              <a:rPr dirty="0"/>
              <a:t>para</a:t>
            </a:r>
            <a:r>
              <a:rPr spc="-15" dirty="0"/>
              <a:t> </a:t>
            </a:r>
            <a:r>
              <a:rPr dirty="0"/>
              <a:t>cada</a:t>
            </a:r>
            <a:r>
              <a:rPr spc="-10" dirty="0"/>
              <a:t> </a:t>
            </a:r>
            <a:r>
              <a:rPr spc="-20" dirty="0"/>
              <a:t>uno.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7783" y="4052639"/>
            <a:ext cx="966216" cy="10817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475232" y="5135882"/>
            <a:ext cx="5864860" cy="0"/>
          </a:xfrm>
          <a:custGeom>
            <a:avLst/>
            <a:gdLst/>
            <a:ahLst/>
            <a:cxnLst/>
            <a:rect l="l" t="t" r="r" b="b"/>
            <a:pathLst>
              <a:path w="5864859">
                <a:moveTo>
                  <a:pt x="0" y="0"/>
                </a:moveTo>
                <a:lnTo>
                  <a:pt x="58643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75232" y="213296"/>
          <a:ext cx="5844540" cy="4696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459">
                <a:tc>
                  <a:txBody>
                    <a:bodyPr/>
                    <a:lstStyle/>
                    <a:p>
                      <a:pPr marL="75565" marR="265430" indent="1905">
                        <a:lnSpc>
                          <a:spcPts val="1420"/>
                        </a:lnSpc>
                        <a:spcBef>
                          <a:spcPts val="580"/>
                        </a:spcBef>
                      </a:pPr>
                      <a:r>
                        <a:rPr sz="1250" spc="-35" dirty="0">
                          <a:latin typeface="Arial MT"/>
                          <a:cs typeface="Arial MT"/>
                        </a:rPr>
                        <a:t>Architecture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style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7366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Dependency</a:t>
                      </a:r>
                      <a:r>
                        <a:rPr sz="125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management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50" spc="-40" dirty="0">
                          <a:latin typeface="Arial MT"/>
                          <a:cs typeface="Arial MT"/>
                        </a:rPr>
                        <a:t>Oomain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type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5905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50" u="heavy" spc="-25" dirty="0">
                          <a:solidFill>
                            <a:srgbClr val="2F4DD3"/>
                          </a:solidFill>
                          <a:uFill>
                            <a:solidFill>
                              <a:srgbClr val="3454AC"/>
                            </a:solidFill>
                          </a:uFill>
                          <a:latin typeface="Arial MT"/>
                          <a:cs typeface="Arial MT"/>
                        </a:rPr>
                        <a:t>N-</a:t>
                      </a:r>
                      <a:r>
                        <a:rPr sz="1250" u="heavy" spc="-20" dirty="0">
                          <a:solidFill>
                            <a:srgbClr val="2F4DD3"/>
                          </a:solidFill>
                          <a:uFill>
                            <a:solidFill>
                              <a:srgbClr val="3454AC"/>
                            </a:solidFill>
                          </a:uFill>
                          <a:latin typeface="Arial MT"/>
                          <a:cs typeface="Arial MT"/>
                        </a:rPr>
                        <a:t>tier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Horizontal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tiers</a:t>
                      </a:r>
                      <a:r>
                        <a:rPr sz="12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divided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2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subnet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 marR="489584" indent="-3175">
                        <a:lnSpc>
                          <a:spcPct val="93600"/>
                        </a:lnSpc>
                        <a:spcBef>
                          <a:spcPts val="53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Traditional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business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domain.</a:t>
                      </a:r>
                      <a:r>
                        <a:rPr sz="12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Frequency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updates</a:t>
                      </a:r>
                      <a:r>
                        <a:rPr sz="12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2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low.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74930" marR="139065">
                        <a:lnSpc>
                          <a:spcPts val="1420"/>
                        </a:lnSpc>
                        <a:spcBef>
                          <a:spcPts val="505"/>
                        </a:spcBef>
                      </a:pPr>
                      <a:r>
                        <a:rPr sz="1250" u="sng" spc="-80" dirty="0">
                          <a:solidFill>
                            <a:srgbClr val="2856A5"/>
                          </a:solidFill>
                          <a:uFill>
                            <a:solidFill>
                              <a:srgbClr val="2F4FA8"/>
                            </a:solidFill>
                          </a:uFill>
                          <a:latin typeface="Arial MT"/>
                          <a:cs typeface="Arial MT"/>
                        </a:rPr>
                        <a:t>Web-</a:t>
                      </a:r>
                      <a:r>
                        <a:rPr sz="1250" u="sng" spc="-65" dirty="0">
                          <a:solidFill>
                            <a:srgbClr val="2856A5"/>
                          </a:solidFill>
                          <a:uFill>
                            <a:solidFill>
                              <a:srgbClr val="2F4FA8"/>
                            </a:solidFill>
                          </a:uFill>
                          <a:latin typeface="Arial MT"/>
                          <a:cs typeface="Arial MT"/>
                        </a:rPr>
                        <a:t>ctueue-</a:t>
                      </a:r>
                      <a:r>
                        <a:rPr sz="1250" u="sng" spc="-50" dirty="0">
                          <a:solidFill>
                            <a:srgbClr val="2856A5"/>
                          </a:solidFill>
                          <a:uFill>
                            <a:solidFill>
                              <a:srgbClr val="2F4FA8"/>
                            </a:solidFill>
                          </a:uFill>
                          <a:latin typeface="Arial MT"/>
                          <a:cs typeface="Arial MT"/>
                        </a:rPr>
                        <a:t>w</a:t>
                      </a:r>
                      <a:r>
                        <a:rPr sz="1250" spc="-50" dirty="0">
                          <a:solidFill>
                            <a:srgbClr val="2856A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u="sng" spc="-10" dirty="0">
                          <a:solidFill>
                            <a:srgbClr val="314DB3"/>
                          </a:solidFill>
                          <a:uFill>
                            <a:solidFill>
                              <a:srgbClr val="2F4FAC"/>
                            </a:solidFill>
                          </a:uFill>
                          <a:latin typeface="Arial MT"/>
                          <a:cs typeface="Arial MT"/>
                        </a:rPr>
                        <a:t>orker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06680" indent="-3175">
                        <a:lnSpc>
                          <a:spcPts val="1420"/>
                        </a:lnSpc>
                        <a:spcBef>
                          <a:spcPts val="50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Front</a:t>
                      </a:r>
                      <a:r>
                        <a:rPr sz="125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backend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jobs,</a:t>
                      </a:r>
                      <a:r>
                        <a:rPr sz="12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decoupled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2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async</a:t>
                      </a:r>
                      <a:r>
                        <a:rPr sz="12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messaging.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80670" indent="-2540">
                        <a:lnSpc>
                          <a:spcPct val="93600"/>
                        </a:lnSpc>
                        <a:spcBef>
                          <a:spcPts val="489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Relatively</a:t>
                      </a:r>
                      <a:r>
                        <a:rPr sz="12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simple</a:t>
                      </a:r>
                      <a:r>
                        <a:rPr sz="12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domain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25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resource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intensive</a:t>
                      </a:r>
                      <a:r>
                        <a:rPr sz="12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tasks.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2229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50" u="sng" spc="-10" dirty="0">
                          <a:solidFill>
                            <a:srgbClr val="1D4FC8"/>
                          </a:solidFill>
                          <a:uFill>
                            <a:solidFill>
                              <a:srgbClr val="2B4FAF"/>
                            </a:solidFill>
                          </a:uFill>
                          <a:latin typeface="Arial MT"/>
                          <a:cs typeface="Arial MT"/>
                        </a:rPr>
                        <a:t>Microservices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58419" indent="4445">
                        <a:lnSpc>
                          <a:spcPct val="93600"/>
                        </a:lnSpc>
                        <a:spcBef>
                          <a:spcPts val="489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Vertically</a:t>
                      </a:r>
                      <a:r>
                        <a:rPr sz="12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(functionally)</a:t>
                      </a:r>
                      <a:r>
                        <a:rPr sz="125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decomposed</a:t>
                      </a:r>
                      <a:r>
                        <a:rPr sz="125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services</a:t>
                      </a:r>
                      <a:r>
                        <a:rPr sz="12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2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12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each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12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 APIs.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2229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546100" indent="-1270">
                        <a:lnSpc>
                          <a:spcPts val="1420"/>
                        </a:lnSpc>
                        <a:spcBef>
                          <a:spcPts val="505"/>
                        </a:spcBef>
                      </a:pPr>
                      <a:r>
                        <a:rPr sz="1250" spc="-30" dirty="0">
                          <a:latin typeface="Arial MT"/>
                          <a:cs typeface="Arial MT"/>
                        </a:rPr>
                        <a:t>Complicated</a:t>
                      </a:r>
                      <a:r>
                        <a:rPr sz="12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domain. Frequent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updates.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74930" marR="226695" indent="-1270">
                        <a:lnSpc>
                          <a:spcPts val="1390"/>
                        </a:lnSpc>
                        <a:spcBef>
                          <a:spcPts val="530"/>
                        </a:spcBef>
                      </a:pPr>
                      <a:r>
                        <a:rPr sz="1250" u="heavy" spc="-45" dirty="0">
                          <a:solidFill>
                            <a:srgbClr val="2A54C1"/>
                          </a:solidFill>
                          <a:uFill>
                            <a:solidFill>
                              <a:srgbClr val="2F4FB3"/>
                            </a:solidFill>
                          </a:uFill>
                          <a:latin typeface="Arial MT"/>
                          <a:cs typeface="Arial MT"/>
                        </a:rPr>
                        <a:t>Event-</a:t>
                      </a:r>
                      <a:r>
                        <a:rPr sz="1250" u="heavy" spc="-30" dirty="0">
                          <a:solidFill>
                            <a:srgbClr val="2A54C1"/>
                          </a:solidFill>
                          <a:uFill>
                            <a:solidFill>
                              <a:srgbClr val="2F4FB3"/>
                            </a:solidFill>
                          </a:uFill>
                          <a:latin typeface="Arial MT"/>
                          <a:cs typeface="Arial MT"/>
                        </a:rPr>
                        <a:t>driven</a:t>
                      </a:r>
                      <a:r>
                        <a:rPr sz="1250" spc="-30" dirty="0">
                          <a:solidFill>
                            <a:srgbClr val="2A54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u="heavy" spc="-10" dirty="0">
                          <a:solidFill>
                            <a:srgbClr val="264BB8"/>
                          </a:solidFill>
                          <a:uFill>
                            <a:solidFill>
                              <a:srgbClr val="2B4FB8"/>
                            </a:solidFill>
                          </a:uFill>
                          <a:latin typeface="Arial MT"/>
                          <a:cs typeface="Arial MT"/>
                        </a:rPr>
                        <a:t>architecture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241300" indent="-1270">
                        <a:lnSpc>
                          <a:spcPts val="1420"/>
                        </a:lnSpc>
                        <a:spcBef>
                          <a:spcPts val="530"/>
                        </a:spcBef>
                      </a:pPr>
                      <a:r>
                        <a:rPr sz="1250" spc="-30" dirty="0">
                          <a:latin typeface="Arial MT"/>
                          <a:cs typeface="Arial MT"/>
                        </a:rPr>
                        <a:t>Producer/consumer.</a:t>
                      </a:r>
                      <a:r>
                        <a:rPr sz="12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Independent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view</a:t>
                      </a:r>
                      <a:r>
                        <a:rPr sz="12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45" dirty="0">
                          <a:latin typeface="Arial MT"/>
                          <a:cs typeface="Arial MT"/>
                        </a:rPr>
                        <a:t>sub-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system.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IoT</a:t>
                      </a:r>
                      <a:r>
                        <a:rPr sz="12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2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systems.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Big</a:t>
                      </a:r>
                      <a:r>
                        <a:rPr sz="125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data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2229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22580" indent="-2540">
                        <a:lnSpc>
                          <a:spcPct val="936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Divide</a:t>
                      </a:r>
                      <a:r>
                        <a:rPr sz="12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2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huge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dataset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into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small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chunks.</a:t>
                      </a:r>
                      <a:r>
                        <a:rPr sz="12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Parallel</a:t>
                      </a:r>
                      <a:r>
                        <a:rPr sz="12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processing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 on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12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datasets.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7429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306070" indent="-3175">
                        <a:lnSpc>
                          <a:spcPct val="936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Batch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5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 data analysis.</a:t>
                      </a:r>
                      <a:r>
                        <a:rPr sz="12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Predictive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2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ML.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74295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Big</a:t>
                      </a:r>
                      <a:r>
                        <a:rPr sz="12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compute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 marR="382905" indent="-3175">
                        <a:lnSpc>
                          <a:spcPts val="1390"/>
                        </a:lnSpc>
                        <a:spcBef>
                          <a:spcPts val="530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2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allocation</a:t>
                      </a:r>
                      <a:r>
                        <a:rPr sz="12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25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thousands</a:t>
                      </a:r>
                      <a:r>
                        <a:rPr sz="125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cores.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84455">
                        <a:lnSpc>
                          <a:spcPts val="1390"/>
                        </a:lnSpc>
                        <a:spcBef>
                          <a:spcPts val="53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Compute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 intensive domains such</a:t>
                      </a:r>
                      <a:r>
                        <a:rPr sz="12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2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simulation.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67310" marB="0">
                    <a:lnL w="9525">
                      <a:solidFill>
                        <a:srgbClr val="131313"/>
                      </a:solidFill>
                      <a:prstDash val="solid"/>
                    </a:lnL>
                    <a:lnR w="9525">
                      <a:solidFill>
                        <a:srgbClr val="131313"/>
                      </a:solidFill>
                      <a:prstDash val="solid"/>
                    </a:lnR>
                    <a:lnT w="9525">
                      <a:solidFill>
                        <a:srgbClr val="131313"/>
                      </a:solidFill>
                      <a:prstDash val="solid"/>
                    </a:lnT>
                    <a:lnB w="9525">
                      <a:solidFill>
                        <a:srgbClr val="1313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3385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Desafíos</a:t>
            </a:r>
            <a:r>
              <a:rPr b="1" spc="-100" dirty="0"/>
              <a:t> </a:t>
            </a:r>
            <a:r>
              <a:rPr b="1" spc="-20" dirty="0"/>
              <a:t>y</a:t>
            </a:r>
            <a:r>
              <a:rPr b="1" spc="-95" dirty="0"/>
              <a:t> </a:t>
            </a:r>
            <a:r>
              <a:rPr b="1" dirty="0"/>
              <a:t>beneficios</a:t>
            </a:r>
            <a:r>
              <a:rPr b="1" spc="-95" dirty="0"/>
              <a:t> </a:t>
            </a:r>
            <a:r>
              <a:rPr b="1" spc="80" dirty="0"/>
              <a:t>a</a:t>
            </a:r>
            <a:r>
              <a:rPr b="1" spc="-100" dirty="0"/>
              <a:t> </a:t>
            </a:r>
            <a:r>
              <a:rPr b="1" spc="-10" dirty="0"/>
              <a:t>considerar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25" y="1511571"/>
            <a:ext cx="730250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restricciones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también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plantean </a:t>
            </a:r>
            <a:r>
              <a:rPr sz="1800" dirty="0">
                <a:latin typeface="Arial MT"/>
                <a:cs typeface="Arial MT"/>
              </a:rPr>
              <a:t>desafíos,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entender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compromisos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adoptar </a:t>
            </a:r>
            <a:r>
              <a:rPr sz="1800" dirty="0">
                <a:latin typeface="Arial MT"/>
                <a:cs typeface="Arial MT"/>
              </a:rPr>
              <a:t>cualquiera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¿Los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beneficios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arquitectura </a:t>
            </a:r>
            <a:r>
              <a:rPr sz="1800" dirty="0">
                <a:latin typeface="Arial MT"/>
                <a:cs typeface="Arial MT"/>
              </a:rPr>
              <a:t>superan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desafíos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subdominio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contexto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acotado?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Aquí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algunos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tipos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desafíos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seleccionar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arquitectura: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392034" cy="175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Complejidad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¿Está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justificada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complejidad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dominio?</a:t>
            </a:r>
            <a:r>
              <a:rPr sz="1800" spc="-25" dirty="0">
                <a:latin typeface="Arial MT"/>
                <a:cs typeface="Arial MT"/>
              </a:rPr>
              <a:t> Por </a:t>
            </a:r>
            <a:r>
              <a:rPr sz="1800" dirty="0">
                <a:latin typeface="Arial MT"/>
                <a:cs typeface="Arial MT"/>
              </a:rPr>
              <a:t>otro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lado,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¿es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demasiado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simplista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dominio?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ese </a:t>
            </a:r>
            <a:r>
              <a:rPr sz="1800" dirty="0">
                <a:latin typeface="Arial MT"/>
                <a:cs typeface="Arial MT"/>
              </a:rPr>
              <a:t>caso,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riesgo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terminar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"bola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barro"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porque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ayuda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dependencias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manera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limpia.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278370" cy="206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Mensajería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asíncrona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consistencia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eventual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mensajería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asíncrona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desacoplar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servicios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aumentar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confiabilidad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(porque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mensajes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volver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intentar)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escalabilidad.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embargo,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también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plantea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desafíos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manejo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consistencia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eventual,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así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posibilidad</a:t>
            </a:r>
            <a:r>
              <a:rPr sz="1800" spc="-25" dirty="0">
                <a:latin typeface="Arial MT"/>
                <a:cs typeface="Arial MT"/>
              </a:rPr>
              <a:t> de </a:t>
            </a:r>
            <a:r>
              <a:rPr sz="1800" dirty="0">
                <a:latin typeface="Arial MT"/>
                <a:cs typeface="Arial MT"/>
              </a:rPr>
              <a:t>mensajes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duplicados.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265670" cy="175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Comunicación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servicios: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descomponer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aplicación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separados,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riesgo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comunicación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latencia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inaceptable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congestión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ejemplo,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microservicios).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15962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Gestionabilidad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¿Qué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difícil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administrar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aplicación,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monitorearla,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implementar </a:t>
            </a:r>
            <a:r>
              <a:rPr sz="1800" dirty="0">
                <a:latin typeface="Arial MT"/>
                <a:cs typeface="Arial MT"/>
              </a:rPr>
              <a:t>actualizaciones,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así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sucesivamente?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263765" cy="175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Nota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500"/>
              </a:spcBef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desafíos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considerarlos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frente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los </a:t>
            </a:r>
            <a:r>
              <a:rPr sz="1800" dirty="0">
                <a:latin typeface="Arial MT"/>
                <a:cs typeface="Arial MT"/>
              </a:rPr>
              <a:t>beneficios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seleccionar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arquitectura.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sus </a:t>
            </a:r>
            <a:r>
              <a:rPr sz="1800" dirty="0">
                <a:latin typeface="Arial MT"/>
                <a:cs typeface="Arial MT"/>
              </a:rPr>
              <a:t>ventajas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desventajas,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necesario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cómo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ajusta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las </a:t>
            </a:r>
            <a:r>
              <a:rPr sz="1800" dirty="0">
                <a:latin typeface="Arial MT"/>
                <a:cs typeface="Arial MT"/>
              </a:rPr>
              <a:t>necesidades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requisitos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específicos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dominio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contexto.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Bonus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500" y="153775"/>
            <a:ext cx="3234951" cy="48628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Bonus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5118" y="0"/>
            <a:ext cx="4733762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Bonus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7438" y="344562"/>
            <a:ext cx="3669124" cy="44543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172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Consideraciones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6352" y="0"/>
            <a:ext cx="3991294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725" y="1108474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Netflix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9191" y="0"/>
            <a:ext cx="4605616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7128" y="3626278"/>
            <a:ext cx="1572260" cy="1517650"/>
            <a:chOff x="7577128" y="3626278"/>
            <a:chExt cx="1572260" cy="1517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7128" y="3626278"/>
              <a:ext cx="1564713" cy="15170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76900" y="4069213"/>
              <a:ext cx="867410" cy="830580"/>
            </a:xfrm>
            <a:custGeom>
              <a:avLst/>
              <a:gdLst/>
              <a:ahLst/>
              <a:cxnLst/>
              <a:rect l="l" t="t" r="r" b="b"/>
              <a:pathLst>
                <a:path w="867409" h="830579">
                  <a:moveTo>
                    <a:pt x="867100" y="830411"/>
                  </a:moveTo>
                  <a:lnTo>
                    <a:pt x="0" y="830411"/>
                  </a:lnTo>
                  <a:lnTo>
                    <a:pt x="867100" y="0"/>
                  </a:lnTo>
                  <a:lnTo>
                    <a:pt x="867100" y="830411"/>
                  </a:lnTo>
                  <a:close/>
                </a:path>
              </a:pathLst>
            </a:custGeom>
            <a:solidFill>
              <a:srgbClr val="1B4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6900" y="4069213"/>
              <a:ext cx="867410" cy="830580"/>
            </a:xfrm>
            <a:custGeom>
              <a:avLst/>
              <a:gdLst/>
              <a:ahLst/>
              <a:cxnLst/>
              <a:rect l="l" t="t" r="r" b="b"/>
              <a:pathLst>
                <a:path w="867409" h="830579">
                  <a:moveTo>
                    <a:pt x="867100" y="830411"/>
                  </a:moveTo>
                  <a:lnTo>
                    <a:pt x="0" y="830411"/>
                  </a:lnTo>
                  <a:lnTo>
                    <a:pt x="86710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88225" y="4227024"/>
              <a:ext cx="953769" cy="912494"/>
            </a:xfrm>
            <a:custGeom>
              <a:avLst/>
              <a:gdLst/>
              <a:ahLst/>
              <a:cxnLst/>
              <a:rect l="l" t="t" r="r" b="b"/>
              <a:pathLst>
                <a:path w="953770" h="912495">
                  <a:moveTo>
                    <a:pt x="953399" y="911999"/>
                  </a:moveTo>
                  <a:lnTo>
                    <a:pt x="0" y="911999"/>
                  </a:lnTo>
                  <a:lnTo>
                    <a:pt x="953399" y="0"/>
                  </a:lnTo>
                  <a:lnTo>
                    <a:pt x="953399" y="911999"/>
                  </a:lnTo>
                  <a:close/>
                </a:path>
              </a:pathLst>
            </a:custGeom>
            <a:solidFill>
              <a:srgbClr val="6873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88225" y="4227024"/>
              <a:ext cx="953769" cy="912494"/>
            </a:xfrm>
            <a:custGeom>
              <a:avLst/>
              <a:gdLst/>
              <a:ahLst/>
              <a:cxnLst/>
              <a:rect l="l" t="t" r="r" b="b"/>
              <a:pathLst>
                <a:path w="953770" h="912495">
                  <a:moveTo>
                    <a:pt x="953399" y="911999"/>
                  </a:moveTo>
                  <a:lnTo>
                    <a:pt x="0" y="911999"/>
                  </a:lnTo>
                  <a:lnTo>
                    <a:pt x="953399" y="0"/>
                  </a:lnTo>
                  <a:lnTo>
                    <a:pt x="953399" y="9119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25137" y="2057881"/>
            <a:ext cx="2693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Muchas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gracias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1526</Words>
  <Application>Microsoft Office PowerPoint</Application>
  <PresentationFormat>Presentación en pantalla (16:9)</PresentationFormat>
  <Paragraphs>87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Arial</vt:lpstr>
      <vt:lpstr>Arial MT</vt:lpstr>
      <vt:lpstr>Office Theme</vt:lpstr>
      <vt:lpstr>Presentación de PowerPoint</vt:lpstr>
      <vt:lpstr>Arquitecturas</vt:lpstr>
      <vt:lpstr>Arquitecturas</vt:lpstr>
      <vt:lpstr>Arquitecturas</vt:lpstr>
      <vt:lpstr>Arquitecturas</vt:lpstr>
      <vt:lpstr>Arquitectura N-tier</vt:lpstr>
      <vt:lpstr>Arquitectura N-tier</vt:lpstr>
      <vt:lpstr>Presentación de PowerPoint</vt:lpstr>
      <vt:lpstr>Arquitectura Web-Queue-Worker</vt:lpstr>
      <vt:lpstr>Arquitectura Web-Queue-Worker</vt:lpstr>
      <vt:lpstr>Web-Queue-Worker</vt:lpstr>
      <vt:lpstr>Arquitectura Microservicios</vt:lpstr>
      <vt:lpstr>Arquitectura Microservicios</vt:lpstr>
      <vt:lpstr>Presentación de PowerPoint</vt:lpstr>
      <vt:lpstr>Arquitecturas Event-Driven Architectures</vt:lpstr>
      <vt:lpstr>Arquitecturas Event-Driven Architectures</vt:lpstr>
      <vt:lpstr>Presentación de PowerPoint</vt:lpstr>
      <vt:lpstr>Arquitecturas Big Data &amp; Big Compute</vt:lpstr>
      <vt:lpstr>Big Data, Big Compute</vt:lpstr>
      <vt:lpstr>Estilos de arquitectura como restricciones</vt:lpstr>
      <vt:lpstr>Estilos de arquitectura como restricciones</vt:lpstr>
      <vt:lpstr>Estilos de arquitectura como restricciones</vt:lpstr>
      <vt:lpstr>Presentación de PowerPoint</vt:lpstr>
      <vt:lpstr>Desafíos y beneficios a considerar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Arquitecturas</dc:title>
  <cp:lastModifiedBy>Lucas Sanchez</cp:lastModifiedBy>
  <cp:revision>1</cp:revision>
  <dcterms:created xsi:type="dcterms:W3CDTF">2025-11-07T21:06:21Z</dcterms:created>
  <dcterms:modified xsi:type="dcterms:W3CDTF">2025-11-07T21:13:07Z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2025-11-07T00:00:00Z</vt:filetime>
  </property>
</Properties>
</file>