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9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0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4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5.xml" ContentType="application/vnd.openxmlformats-officedocument.theme+xml"/>
  <Override PartName="/ppt/slideLayouts/slideLayout83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8.xml" ContentType="application/vnd.openxmlformats-officedocument.theme+xml"/>
  <Override PartName="/ppt/slideLayouts/slideLayout88.xml" ContentType="application/vnd.openxmlformats-officedocument.presentationml.slideLayout+xml"/>
  <Override PartName="/ppt/theme/theme19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0.xml" ContentType="application/vnd.openxmlformats-officedocument.theme+xml"/>
  <Override PartName="/ppt/theme/theme21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3" r:id="rId1"/>
    <p:sldMasterId id="2147483797" r:id="rId2"/>
    <p:sldMasterId id="2147483816" r:id="rId3"/>
    <p:sldMasterId id="2147483683" r:id="rId4"/>
    <p:sldMasterId id="2147483914" r:id="rId5"/>
    <p:sldMasterId id="2147483990" r:id="rId6"/>
    <p:sldMasterId id="2147483997" r:id="rId7"/>
    <p:sldMasterId id="2147484001" r:id="rId8"/>
    <p:sldMasterId id="2147484007" r:id="rId9"/>
    <p:sldMasterId id="2147484037" r:id="rId10"/>
    <p:sldMasterId id="2147484045" r:id="rId11"/>
    <p:sldMasterId id="2147484116" r:id="rId12"/>
    <p:sldMasterId id="2147484118" r:id="rId13"/>
    <p:sldMasterId id="2147484126" r:id="rId14"/>
    <p:sldMasterId id="2147484134" r:id="rId15"/>
    <p:sldMasterId id="2147484142" r:id="rId16"/>
    <p:sldMasterId id="2147484145" r:id="rId17"/>
    <p:sldMasterId id="2147484150" r:id="rId18"/>
    <p:sldMasterId id="2147484158" r:id="rId19"/>
    <p:sldMasterId id="2147484166" r:id="rId20"/>
    <p:sldMasterId id="2147484179" r:id="rId21"/>
    <p:sldMasterId id="2147484220" r:id="rId22"/>
  </p:sldMasterIdLst>
  <p:notesMasterIdLst>
    <p:notesMasterId r:id="rId45"/>
  </p:notesMasterIdLst>
  <p:handoutMasterIdLst>
    <p:handoutMasterId r:id="rId46"/>
  </p:handoutMasterIdLst>
  <p:sldIdLst>
    <p:sldId id="2664" r:id="rId23"/>
    <p:sldId id="2722" r:id="rId24"/>
    <p:sldId id="2716" r:id="rId25"/>
    <p:sldId id="2718" r:id="rId26"/>
    <p:sldId id="2680" r:id="rId27"/>
    <p:sldId id="2713" r:id="rId28"/>
    <p:sldId id="2672" r:id="rId29"/>
    <p:sldId id="2715" r:id="rId30"/>
    <p:sldId id="2665" r:id="rId31"/>
    <p:sldId id="2681" r:id="rId32"/>
    <p:sldId id="2670" r:id="rId33"/>
    <p:sldId id="2720" r:id="rId34"/>
    <p:sldId id="2705" r:id="rId35"/>
    <p:sldId id="2723" r:id="rId36"/>
    <p:sldId id="2725" r:id="rId37"/>
    <p:sldId id="2710" r:id="rId38"/>
    <p:sldId id="2706" r:id="rId39"/>
    <p:sldId id="2724" r:id="rId40"/>
    <p:sldId id="2707" r:id="rId41"/>
    <p:sldId id="2708" r:id="rId42"/>
    <p:sldId id="2721" r:id="rId43"/>
    <p:sldId id="2717" r:id="rId44"/>
  </p:sldIdLst>
  <p:sldSz cx="12196763" cy="6858000"/>
  <p:notesSz cx="7104063" cy="10234613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8D29E0-DB07-FFCA-441F-CA23DE98F047}" name="Bondio Andres German" initials="BAG" userId="S::abondio@gcgestion.com.ar::e077eb19-a58e-4f43-8d77-d46f2d270b9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ziyu(Ben,Cloud)" initials="W" lastIdx="0" clrIdx="0">
    <p:extLst>
      <p:ext uri="{19B8F6BF-5375-455C-9EA6-DF929625EA0E}">
        <p15:presenceInfo xmlns:p15="http://schemas.microsoft.com/office/powerpoint/2012/main" userId="S-1-5-21-147214757-305610072-1517763936-2825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188BCA"/>
    <a:srgbClr val="0062AC"/>
    <a:srgbClr val="000000"/>
    <a:srgbClr val="E8EFF2"/>
    <a:srgbClr val="FAFAFA"/>
    <a:srgbClr val="151515"/>
    <a:srgbClr val="F0F0F0"/>
    <a:srgbClr val="FEFE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 autoAdjust="0"/>
    <p:restoredTop sz="86964" autoAdjust="0"/>
  </p:normalViewPr>
  <p:slideViewPr>
    <p:cSldViewPr snapToGrid="0" snapToObjects="1">
      <p:cViewPr varScale="1">
        <p:scale>
          <a:sx n="95" d="100"/>
          <a:sy n="95" d="100"/>
        </p:scale>
        <p:origin x="918" y="9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3" d="100"/>
          <a:sy n="43" d="100"/>
        </p:scale>
        <p:origin x="2840" y="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9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2.xml"/><Relationship Id="rId42" Type="http://schemas.openxmlformats.org/officeDocument/2006/relationships/slide" Target="slides/slide20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7.xml"/><Relationship Id="rId41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40" Type="http://schemas.openxmlformats.org/officeDocument/2006/relationships/slide" Target="slides/slide18.xml"/><Relationship Id="rId45" Type="http://schemas.openxmlformats.org/officeDocument/2006/relationships/notesMaster" Target="notesMasters/notesMaster1.xml"/><Relationship Id="rId53" Type="http://schemas.microsoft.com/office/2018/10/relationships/authors" Target="author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9.xml"/><Relationship Id="rId44" Type="http://schemas.openxmlformats.org/officeDocument/2006/relationships/slide" Target="slides/slide22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43" Type="http://schemas.openxmlformats.org/officeDocument/2006/relationships/slide" Target="slides/slide21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dio Andres German" userId="e077eb19-a58e-4f43-8d77-d46f2d270b92" providerId="ADAL" clId="{DCEC8177-3157-4CE7-B79B-18F06AE0CB05}"/>
    <pc:docChg chg="delSld modSld">
      <pc:chgData name="Bondio Andres German" userId="e077eb19-a58e-4f43-8d77-d46f2d270b92" providerId="ADAL" clId="{DCEC8177-3157-4CE7-B79B-18F06AE0CB05}" dt="2023-08-11T15:45:28.261" v="19" actId="6549"/>
      <pc:docMkLst>
        <pc:docMk/>
      </pc:docMkLst>
      <pc:sldChg chg="delCm modNotesTx">
        <pc:chgData name="Bondio Andres German" userId="e077eb19-a58e-4f43-8d77-d46f2d270b92" providerId="ADAL" clId="{DCEC8177-3157-4CE7-B79B-18F06AE0CB05}" dt="2023-08-11T15:44:36.878" v="8"/>
        <pc:sldMkLst>
          <pc:docMk/>
          <pc:sldMk cId="1033924672" sldId="2665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del">
              <pc226:chgData name="Bondio Andres German" userId="e077eb19-a58e-4f43-8d77-d46f2d270b92" providerId="ADAL" clId="{DCEC8177-3157-4CE7-B79B-18F06AE0CB05}" dt="2023-08-11T15:44:36.878" v="8"/>
              <pc2:cmMkLst xmlns:pc2="http://schemas.microsoft.com/office/powerpoint/2019/9/main/command">
                <pc:docMk/>
                <pc:sldMk cId="1033924672" sldId="2665"/>
                <pc2:cmMk id="{1A9B1410-D79E-48B9-90D7-19D60586EB66}"/>
              </pc2:cmMkLst>
            </pc226:cmChg>
          </p:ext>
        </pc:ext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833311804" sldId="2667"/>
        </pc:sldMkLst>
      </pc:sldChg>
      <pc:sldChg chg="modNotesTx">
        <pc:chgData name="Bondio Andres German" userId="e077eb19-a58e-4f43-8d77-d46f2d270b92" providerId="ADAL" clId="{DCEC8177-3157-4CE7-B79B-18F06AE0CB05}" dt="2023-08-11T15:44:48.782" v="11" actId="6549"/>
        <pc:sldMkLst>
          <pc:docMk/>
          <pc:sldMk cId="3971083214" sldId="2670"/>
        </pc:sldMkLst>
      </pc:sldChg>
      <pc:sldChg chg="modNotesTx">
        <pc:chgData name="Bondio Andres German" userId="e077eb19-a58e-4f43-8d77-d46f2d270b92" providerId="ADAL" clId="{DCEC8177-3157-4CE7-B79B-18F06AE0CB05}" dt="2023-08-11T15:44:19.565" v="5" actId="6549"/>
        <pc:sldMkLst>
          <pc:docMk/>
          <pc:sldMk cId="1633464778" sldId="267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646942607" sldId="2673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671276649" sldId="2674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507548417" sldId="2675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684747870" sldId="2676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849827473" sldId="2678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847203470" sldId="2679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793595032" sldId="268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013659638" sldId="2686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740928447" sldId="2687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49814131" sldId="2688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4045632860" sldId="2690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440677301" sldId="270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607791828" sldId="2703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27594965" sldId="2704"/>
        </pc:sldMkLst>
      </pc:sldChg>
      <pc:sldChg chg="modNotesTx">
        <pc:chgData name="Bondio Andres German" userId="e077eb19-a58e-4f43-8d77-d46f2d270b92" providerId="ADAL" clId="{DCEC8177-3157-4CE7-B79B-18F06AE0CB05}" dt="2023-08-11T15:44:59.614" v="14" actId="6549"/>
        <pc:sldMkLst>
          <pc:docMk/>
          <pc:sldMk cId="2632800895" sldId="2705"/>
        </pc:sldMkLst>
      </pc:sldChg>
      <pc:sldChg chg="modNotesTx">
        <pc:chgData name="Bondio Andres German" userId="e077eb19-a58e-4f43-8d77-d46f2d270b92" providerId="ADAL" clId="{DCEC8177-3157-4CE7-B79B-18F06AE0CB05}" dt="2023-08-11T15:45:09.816" v="15" actId="6549"/>
        <pc:sldMkLst>
          <pc:docMk/>
          <pc:sldMk cId="356073675" sldId="2706"/>
        </pc:sldMkLst>
      </pc:sldChg>
      <pc:sldChg chg="modNotesTx">
        <pc:chgData name="Bondio Andres German" userId="e077eb19-a58e-4f43-8d77-d46f2d270b92" providerId="ADAL" clId="{DCEC8177-3157-4CE7-B79B-18F06AE0CB05}" dt="2023-08-11T15:45:18" v="17" actId="6549"/>
        <pc:sldMkLst>
          <pc:docMk/>
          <pc:sldMk cId="4229300861" sldId="2708"/>
        </pc:sldMkLst>
      </pc:sldChg>
      <pc:sldChg chg="modNotesTx">
        <pc:chgData name="Bondio Andres German" userId="e077eb19-a58e-4f43-8d77-d46f2d270b92" providerId="ADAL" clId="{DCEC8177-3157-4CE7-B79B-18F06AE0CB05}" dt="2023-08-11T15:44:12.088" v="4" actId="6549"/>
        <pc:sldMkLst>
          <pc:docMk/>
          <pc:sldMk cId="3280477966" sldId="2713"/>
        </pc:sldMkLst>
      </pc:sldChg>
      <pc:sldChg chg="modNotesTx">
        <pc:chgData name="Bondio Andres German" userId="e077eb19-a58e-4f43-8d77-d46f2d270b92" providerId="ADAL" clId="{DCEC8177-3157-4CE7-B79B-18F06AE0CB05}" dt="2023-08-11T15:44:22.900" v="6" actId="6549"/>
        <pc:sldMkLst>
          <pc:docMk/>
          <pc:sldMk cId="2341827007" sldId="2715"/>
        </pc:sldMkLst>
      </pc:sldChg>
      <pc:sldChg chg="modNotesTx">
        <pc:chgData name="Bondio Andres German" userId="e077eb19-a58e-4f43-8d77-d46f2d270b92" providerId="ADAL" clId="{DCEC8177-3157-4CE7-B79B-18F06AE0CB05}" dt="2023-08-11T15:43:57.041" v="2" actId="6549"/>
        <pc:sldMkLst>
          <pc:docMk/>
          <pc:sldMk cId="356124332" sldId="2716"/>
        </pc:sldMkLst>
      </pc:sldChg>
      <pc:sldChg chg="modNotesTx">
        <pc:chgData name="Bondio Andres German" userId="e077eb19-a58e-4f43-8d77-d46f2d270b92" providerId="ADAL" clId="{DCEC8177-3157-4CE7-B79B-18F06AE0CB05}" dt="2023-08-11T15:45:28.261" v="19" actId="6549"/>
        <pc:sldMkLst>
          <pc:docMk/>
          <pc:sldMk cId="2207705098" sldId="2717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56818256" sldId="2719"/>
        </pc:sldMkLst>
      </pc:sldChg>
      <pc:sldChg chg="modNotesTx">
        <pc:chgData name="Bondio Andres German" userId="e077eb19-a58e-4f43-8d77-d46f2d270b92" providerId="ADAL" clId="{DCEC8177-3157-4CE7-B79B-18F06AE0CB05}" dt="2023-08-11T15:44:55.009" v="13" actId="6549"/>
        <pc:sldMkLst>
          <pc:docMk/>
          <pc:sldMk cId="4124839253" sldId="2720"/>
        </pc:sldMkLst>
      </pc:sldChg>
      <pc:sldChg chg="modNotesTx">
        <pc:chgData name="Bondio Andres German" userId="e077eb19-a58e-4f43-8d77-d46f2d270b92" providerId="ADAL" clId="{DCEC8177-3157-4CE7-B79B-18F06AE0CB05}" dt="2023-08-11T15:45:21.189" v="18" actId="6549"/>
        <pc:sldMkLst>
          <pc:docMk/>
          <pc:sldMk cId="2492242624" sldId="2721"/>
        </pc:sldMkLst>
      </pc:sldChg>
      <pc:sldChg chg="modNotesTx">
        <pc:chgData name="Bondio Andres German" userId="e077eb19-a58e-4f43-8d77-d46f2d270b92" providerId="ADAL" clId="{DCEC8177-3157-4CE7-B79B-18F06AE0CB05}" dt="2023-08-11T15:45:13.437" v="16" actId="6549"/>
        <pc:sldMkLst>
          <pc:docMk/>
          <pc:sldMk cId="2693795593" sldId="27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8/18/2023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DD60A27-BF12-6744-9E93-932A0E34D8BB}" type="datetimeFigureOut">
              <a:rPr lang="en-US" smtClean="0">
                <a:latin typeface="Arial" panose="020B0604020202020204" pitchFamily="34" charset="0"/>
              </a:rPr>
              <a:t>8/18/2023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18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301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465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5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9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889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530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684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935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984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71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4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451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266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15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50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034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17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333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18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35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734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20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634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21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134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22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10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47636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320524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439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3631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03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80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54294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05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18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10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72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1014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976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49334090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18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942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49" y="289515"/>
            <a:ext cx="11660392" cy="8996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6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001176"/>
      </p:ext>
    </p:extLst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7849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1467588" cy="4975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5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26023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617360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9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530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2" indent="0" algn="ctr">
              <a:buNone/>
              <a:defRPr sz="2597"/>
            </a:lvl2pPr>
            <a:lvl3pPr marL="1187441" indent="0" algn="ctr">
              <a:buNone/>
              <a:defRPr sz="2338"/>
            </a:lvl3pPr>
            <a:lvl4pPr marL="1781165" indent="0" algn="ctr">
              <a:buNone/>
              <a:defRPr sz="2079"/>
            </a:lvl4pPr>
            <a:lvl5pPr marL="2374885" indent="0" algn="ctr">
              <a:buNone/>
              <a:defRPr sz="2079"/>
            </a:lvl5pPr>
            <a:lvl6pPr marL="2968606" indent="0" algn="ctr">
              <a:buNone/>
              <a:defRPr sz="2079"/>
            </a:lvl6pPr>
            <a:lvl7pPr marL="3562327" indent="0" algn="ctr">
              <a:buNone/>
              <a:defRPr sz="2079"/>
            </a:lvl7pPr>
            <a:lvl8pPr marL="4156050" indent="0" algn="ctr">
              <a:buNone/>
              <a:defRPr sz="2079"/>
            </a:lvl8pPr>
            <a:lvl9pPr marL="4749770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55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644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76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1861"/>
            <a:ext cx="10740513" cy="44456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9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1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ts val="3428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3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7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73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77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2046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40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06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2pPr>
            <a:lvl3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3pPr>
            <a:lvl4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4pPr>
            <a:lvl5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6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92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18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4078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模板刷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2833" y="520852"/>
            <a:ext cx="11034000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4217" rtl="0" eaLnBrk="1" fontAlgn="base" latinLnBrk="0" hangingPunct="1">
              <a:lnSpc>
                <a:spcPts val="3428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None/>
              <a:defRPr lang="en-US" sz="2798" b="1" kern="0" dirty="0">
                <a:solidFill>
                  <a:srgbClr val="C00000"/>
                </a:solidFill>
                <a:latin typeface="Huawei Sans" panose="020B0604020202020204"/>
                <a:ea typeface="微软雅黑"/>
                <a:cs typeface="+mn-ea"/>
              </a:defRPr>
            </a:lvl1pPr>
            <a:lvl2pPr marL="593705" indent="0" algn="ctr">
              <a:buNone/>
              <a:defRPr sz="2598"/>
            </a:lvl2pPr>
            <a:lvl3pPr marL="1187412" indent="0" algn="ctr">
              <a:buNone/>
              <a:defRPr sz="2336"/>
            </a:lvl3pPr>
            <a:lvl4pPr marL="1781121" indent="0" algn="ctr">
              <a:buNone/>
              <a:defRPr sz="2080"/>
            </a:lvl4pPr>
            <a:lvl5pPr marL="2374828" indent="0" algn="ctr">
              <a:buNone/>
              <a:defRPr sz="2080"/>
            </a:lvl5pPr>
            <a:lvl6pPr marL="2968531" indent="0" algn="ctr">
              <a:buNone/>
              <a:defRPr sz="2080"/>
            </a:lvl6pPr>
            <a:lvl7pPr marL="3562237" indent="0" algn="ctr">
              <a:buNone/>
              <a:defRPr sz="2080"/>
            </a:lvl7pPr>
            <a:lvl8pPr marL="4155945" indent="0" algn="ctr">
              <a:buNone/>
              <a:defRPr sz="2080"/>
            </a:lvl8pPr>
            <a:lvl9pPr marL="474965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9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259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06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9010" y="170349"/>
            <a:ext cx="11235233" cy="9358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82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7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5099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5500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301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7366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11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623864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9100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977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8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57986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2135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29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63341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1608789"/>
      </p:ext>
    </p:extLst>
  </p:cSld>
  <p:clrMapOvr>
    <a:masterClrMapping/>
  </p:clrMapOvr>
  <p:transition spd="med" advClick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9764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499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973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163374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81555262"/>
      </p:ext>
    </p:extLst>
  </p:cSld>
  <p:clrMapOvr>
    <a:masterClrMapping/>
  </p:clrMapOvr>
  <p:transition spd="med" advClick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619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661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8770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35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67812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38238081"/>
      </p:ext>
    </p:extLst>
  </p:cSld>
  <p:clrMapOvr>
    <a:masterClrMapping/>
  </p:clrMapOvr>
  <p:transition spd="med" advClick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936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1493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195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84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527635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53126042"/>
      </p:ext>
    </p:extLst>
  </p:cSld>
  <p:clrMapOvr>
    <a:masterClrMapping/>
  </p:clrMapOvr>
  <p:transition spd="med" advClick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02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6845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3371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6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72794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59620418"/>
      </p:ext>
    </p:extLst>
  </p:cSld>
  <p:clrMapOvr>
    <a:masterClrMapping/>
  </p:clrMapOvr>
  <p:transition spd="med" advClick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17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951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6153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100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0548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4634738"/>
      </p:ext>
    </p:extLst>
  </p:cSld>
  <p:clrMapOvr>
    <a:masterClrMapping/>
  </p:clrMapOvr>
  <p:transition spd="med" advClick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9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54440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3801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8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65497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4077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248" indent="0" algn="ctr">
              <a:buNone/>
              <a:defRPr sz="2595"/>
            </a:lvl2pPr>
            <a:lvl3pPr marL="1186491" indent="0" algn="ctr">
              <a:buNone/>
              <a:defRPr sz="2336"/>
            </a:lvl3pPr>
            <a:lvl4pPr marL="1779741" indent="0" algn="ctr">
              <a:buNone/>
              <a:defRPr sz="2077"/>
            </a:lvl4pPr>
            <a:lvl5pPr marL="2372985" indent="0" algn="ctr">
              <a:buNone/>
              <a:defRPr sz="2077"/>
            </a:lvl5pPr>
            <a:lvl6pPr marL="2966232" indent="0" algn="ctr">
              <a:buNone/>
              <a:defRPr sz="2077"/>
            </a:lvl6pPr>
            <a:lvl7pPr marL="3559478" indent="0" algn="ctr">
              <a:buNone/>
              <a:defRPr sz="2077"/>
            </a:lvl7pPr>
            <a:lvl8pPr marL="4152726" indent="0" algn="ctr">
              <a:buNone/>
              <a:defRPr sz="2077"/>
            </a:lvl8pPr>
            <a:lvl9pPr marL="4745971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94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091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2pPr>
            <a:lvl3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3pPr>
            <a:lvl4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4pPr>
            <a:lvl5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911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9859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5" y="932661"/>
            <a:ext cx="11346556" cy="3216257"/>
          </a:xfrm>
          <a:prstGeom prst="rect">
            <a:avLst/>
          </a:prstGeom>
        </p:spPr>
        <p:txBody>
          <a:bodyPr lIns="91404" tIns="45698" rIns="91404" bIns="45698">
            <a:normAutofit/>
          </a:bodyPr>
          <a:lstStyle>
            <a:lvl1pPr marL="0" marR="0" indent="0" algn="ctr" defTabSz="12181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97" baseline="0">
                <a:solidFill>
                  <a:schemeClr val="tx1"/>
                </a:solidFill>
                <a:latin typeface="方正兰亭细黑_GBK" pitchFamily="2" charset="-122"/>
                <a:ea typeface="方正兰亭细黑_GBK" pitchFamily="2" charset="-122"/>
              </a:defRPr>
            </a:lvl1pPr>
            <a:lvl2pPr marL="609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5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华为方正兰亭细黑 </a:t>
            </a:r>
            <a:r>
              <a:rPr lang="en-US" altLang="zh-CN" dirty="0"/>
              <a:t>35pt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540742655"/>
      </p:ext>
    </p:extLst>
  </p:cSld>
  <p:clrMapOvr>
    <a:masterClrMapping/>
  </p:clrMapOvr>
  <p:transition advClick="0">
    <p:fade thruBlk="1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自定义预设 3备份 3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3025" y="-69215"/>
            <a:ext cx="12343130" cy="699706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8" b="1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251" indent="0" algn="ctr">
              <a:buNone/>
              <a:defRPr sz="2593"/>
            </a:lvl2pPr>
            <a:lvl3pPr marL="1186500" indent="0" algn="ctr">
              <a:buNone/>
              <a:defRPr sz="2333"/>
            </a:lvl3pPr>
            <a:lvl4pPr marL="1779751" indent="0" algn="ctr">
              <a:buNone/>
              <a:defRPr sz="2078"/>
            </a:lvl4pPr>
            <a:lvl5pPr marL="2373000" indent="0" algn="ctr">
              <a:buNone/>
              <a:defRPr sz="2078"/>
            </a:lvl5pPr>
            <a:lvl6pPr marL="2965616" indent="0" algn="ctr">
              <a:buNone/>
              <a:defRPr sz="2078"/>
            </a:lvl6pPr>
            <a:lvl7pPr marL="3558866" indent="0" algn="ctr">
              <a:buNone/>
              <a:defRPr sz="2078"/>
            </a:lvl7pPr>
            <a:lvl8pPr marL="4152116" indent="0" algn="ctr">
              <a:buNone/>
              <a:defRPr sz="2078"/>
            </a:lvl8pPr>
            <a:lvl9pPr marL="4745366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7590" y="148431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354681" indent="-342626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1206804" algn="ctr"/>
              </a:tabLst>
              <a:defRPr sz="1398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360" indent="-170679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206804" algn="ctr"/>
              </a:tabLst>
              <a:defRPr sz="1100" baseline="0">
                <a:solidFill>
                  <a:schemeClr val="tx2"/>
                </a:solidFill>
              </a:defRPr>
            </a:lvl2pPr>
            <a:lvl3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3pPr>
            <a:lvl4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4pPr>
            <a:lvl5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9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0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558">
              <a:defRPr/>
            </a:pPr>
            <a:fld id="{C3837181-38C6-AD4F-B8BA-B444770388BB}" type="slidenum">
              <a:rPr lang="en-US" sz="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558">
                <a:defRPr/>
              </a:pPr>
              <a:t>‹Nº›</a:t>
            </a:fld>
            <a:endParaRPr lang="en-US" sz="9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 descr="编组 12备份 5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8865" y="6353815"/>
            <a:ext cx="1386840" cy="3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415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528" y="452213"/>
            <a:ext cx="10519708" cy="600075"/>
          </a:xfrm>
          <a:prstGeom prst="rect">
            <a:avLst/>
          </a:prstGeom>
        </p:spPr>
        <p:txBody>
          <a:bodyPr/>
          <a:lstStyle>
            <a:lvl1pPr algn="ctr">
              <a:defRPr sz="2798" baseline="0">
                <a:solidFill>
                  <a:schemeClr val="bg1"/>
                </a:solidFill>
                <a:latin typeface="Huawei Sans Medium" panose="020C0603030203020204" pitchFamily="34" charset="0"/>
                <a:cs typeface="Huawei Sans Medium" panose="020C0603030203020204" pitchFamily="34" charset="0"/>
              </a:defRPr>
            </a:lvl1pPr>
          </a:lstStyle>
          <a:p>
            <a:r>
              <a:rPr lang="en-US" altLang="zh-CN" dirty="0"/>
              <a:t>Typeface: Huawei Sans Medium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528" y="2067834"/>
            <a:ext cx="10519708" cy="2155825"/>
          </a:xfrm>
          <a:prstGeom prst="rect">
            <a:avLst/>
          </a:prstGeom>
        </p:spPr>
        <p:txBody>
          <a:bodyPr/>
          <a:lstStyle>
            <a:lvl1pPr algn="ctr">
              <a:defRPr sz="1599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Typeface: Huawei Sans</a:t>
            </a:r>
          </a:p>
          <a:p>
            <a:pPr lvl="0"/>
            <a:r>
              <a:rPr lang="en-US" altLang="zh-CN" dirty="0"/>
              <a:t>Add Your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47668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161" y="274637"/>
            <a:ext cx="10977404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1161" y="1600217"/>
            <a:ext cx="109774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911545" y="6402389"/>
            <a:ext cx="1409883" cy="1101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3723">
              <a:defRPr/>
            </a:pPr>
            <a:endParaRPr lang="en-GB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829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ct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11" indent="0" algn="ctr">
              <a:buNone/>
              <a:defRPr sz="2596"/>
            </a:lvl2pPr>
            <a:lvl3pPr marL="1186818" indent="0" algn="ctr">
              <a:buNone/>
              <a:defRPr sz="2336"/>
            </a:lvl3pPr>
            <a:lvl4pPr marL="1780230" indent="0" algn="ctr">
              <a:buNone/>
              <a:defRPr sz="2078"/>
            </a:lvl4pPr>
            <a:lvl5pPr marL="2373639" indent="0" algn="ctr">
              <a:buNone/>
              <a:defRPr sz="2078"/>
            </a:lvl5pPr>
            <a:lvl6pPr marL="2967048" indent="0" algn="ctr">
              <a:buNone/>
              <a:defRPr sz="2078"/>
            </a:lvl6pPr>
            <a:lvl7pPr marL="3560457" indent="0" algn="ctr">
              <a:buNone/>
              <a:defRPr sz="2078"/>
            </a:lvl7pPr>
            <a:lvl8pPr marL="4153869" indent="0" algn="ctr">
              <a:buNone/>
              <a:defRPr sz="2078"/>
            </a:lvl8pPr>
            <a:lvl9pPr marL="4747276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1207423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2pPr>
            <a:lvl3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3pPr>
            <a:lvl4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4pPr>
            <a:lvl5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5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3926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6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5" indent="0" algn="ctr">
              <a:buNone/>
              <a:defRPr sz="2077"/>
            </a:lvl4pPr>
            <a:lvl5pPr marL="2373697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93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5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2pPr>
            <a:lvl3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3pPr>
            <a:lvl4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4pPr>
            <a:lvl5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12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2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4" indent="0" algn="ctr">
              <a:buNone/>
              <a:defRPr sz="2076"/>
            </a:lvl6pPr>
            <a:lvl7pPr marL="3559121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5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95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368313"/>
            <a:ext cx="10180910" cy="746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309038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B05DA92D-8E24-46FB-81F8-F3810C568465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7656" y="165101"/>
            <a:ext cx="11161453" cy="888186"/>
          </a:xfr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99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7656" y="1269262"/>
            <a:ext cx="11161453" cy="5031593"/>
          </a:xfrm>
        </p:spPr>
        <p:txBody>
          <a:bodyPr/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693738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02804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841" indent="0" algn="ctr">
              <a:buNone/>
              <a:defRPr sz="2598"/>
            </a:lvl2pPr>
            <a:lvl3pPr marL="1187679" indent="0" algn="ctr">
              <a:buNone/>
              <a:defRPr sz="2338"/>
            </a:lvl3pPr>
            <a:lvl4pPr marL="1781521" indent="0" algn="ctr">
              <a:buNone/>
              <a:defRPr sz="2079"/>
            </a:lvl4pPr>
            <a:lvl5pPr marL="2375360" indent="0" algn="ctr">
              <a:buNone/>
              <a:defRPr sz="2079"/>
            </a:lvl5pPr>
            <a:lvl6pPr marL="2969200" indent="0" algn="ctr">
              <a:buNone/>
              <a:defRPr sz="2079"/>
            </a:lvl6pPr>
            <a:lvl7pPr marL="3563040" indent="0" algn="ctr">
              <a:buNone/>
              <a:defRPr sz="2079"/>
            </a:lvl7pPr>
            <a:lvl8pPr marL="4156881" indent="0" algn="ctr">
              <a:buNone/>
              <a:defRPr sz="2079"/>
            </a:lvl8pPr>
            <a:lvl9pPr marL="4750720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6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2" y="336813"/>
            <a:ext cx="10458983" cy="7596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4000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82055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527587" y="1604799"/>
            <a:ext cx="10853444" cy="3648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800" dirty="0">
              <a:solidFill>
                <a:prstClr val="black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1245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12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449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33" Type="http://schemas.openxmlformats.org/officeDocument/2006/relationships/image" Target="../media/image6.tiff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32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40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4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4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4.png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7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3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9.xml"/><Relationship Id="rId7" Type="http://schemas.openxmlformats.org/officeDocument/2006/relationships/theme" Target="../theme/theme15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83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7.tiff"/><Relationship Id="rId5" Type="http://schemas.openxmlformats.org/officeDocument/2006/relationships/theme" Target="../theme/theme18.xml"/><Relationship Id="rId4" Type="http://schemas.openxmlformats.org/officeDocument/2006/relationships/slideLayout" Target="../slideLayouts/slideLayout87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88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10" Type="http://schemas.openxmlformats.org/officeDocument/2006/relationships/image" Target="../media/image7.tiff"/><Relationship Id="rId4" Type="http://schemas.openxmlformats.org/officeDocument/2006/relationships/slideLayout" Target="../slideLayouts/slideLayout92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2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10" Type="http://schemas.openxmlformats.org/officeDocument/2006/relationships/image" Target="../media/image11.jpeg"/><Relationship Id="rId4" Type="http://schemas.openxmlformats.org/officeDocument/2006/relationships/slideLayout" Target="../slideLayouts/slideLayout100.xml"/><Relationship Id="rId9" Type="http://schemas.openxmlformats.org/officeDocument/2006/relationships/image" Target="../media/image10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2B15EB5-2880-2029-9C3C-BAEE4E9134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9767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2BB54A7-11F4-95EE-2B73-49B0A1A3E5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3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6C609229-5CF5-0058-F9D2-3721D39027C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C121077-1193-FB4A-9315-392ADB36F04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686" r:id="rId2"/>
    <p:sldLayoutId id="2147484228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grpSp>
        <p:nvGrpSpPr>
          <p:cNvPr id="5" name="Group 87">
            <a:extLst>
              <a:ext uri="{FF2B5EF4-FFF2-40B4-BE49-F238E27FC236}">
                <a16:creationId xmlns:a16="http://schemas.microsoft.com/office/drawing/2014/main" id="{CBB91E99-E194-4FBA-98E8-C8C541AFAD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6" name="矩形 13">
              <a:extLst>
                <a:ext uri="{FF2B5EF4-FFF2-40B4-BE49-F238E27FC236}">
                  <a16:creationId xmlns:a16="http://schemas.microsoft.com/office/drawing/2014/main" id="{87062D29-4B3D-43C6-B2F4-87266745F218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" name="文本框 15">
              <a:extLst>
                <a:ext uri="{FF2B5EF4-FFF2-40B4-BE49-F238E27FC236}">
                  <a16:creationId xmlns:a16="http://schemas.microsoft.com/office/drawing/2014/main" id="{CF04794B-0451-4AF0-8B15-8E5F7B62486B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8" name="矩形 13">
              <a:extLst>
                <a:ext uri="{FF2B5EF4-FFF2-40B4-BE49-F238E27FC236}">
                  <a16:creationId xmlns:a16="http://schemas.microsoft.com/office/drawing/2014/main" id="{0DBE7A85-19E5-4416-A13E-6FDDFBF0D93F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" name="矩形 13">
              <a:extLst>
                <a:ext uri="{FF2B5EF4-FFF2-40B4-BE49-F238E27FC236}">
                  <a16:creationId xmlns:a16="http://schemas.microsoft.com/office/drawing/2014/main" id="{D0D35BE3-9F1D-49FC-BF5E-47C6902D7165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0" name="矩形 13">
              <a:extLst>
                <a:ext uri="{FF2B5EF4-FFF2-40B4-BE49-F238E27FC236}">
                  <a16:creationId xmlns:a16="http://schemas.microsoft.com/office/drawing/2014/main" id="{A556DFAA-1C6B-4B48-AC0A-CF59626865DB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1" name="矩形 13">
              <a:extLst>
                <a:ext uri="{FF2B5EF4-FFF2-40B4-BE49-F238E27FC236}">
                  <a16:creationId xmlns:a16="http://schemas.microsoft.com/office/drawing/2014/main" id="{425D8B17-2E6F-4DA0-98F8-4FA5B19A7F99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2" name="矩形 13">
              <a:extLst>
                <a:ext uri="{FF2B5EF4-FFF2-40B4-BE49-F238E27FC236}">
                  <a16:creationId xmlns:a16="http://schemas.microsoft.com/office/drawing/2014/main" id="{18E165AF-76C3-4826-9D25-C14CD69C9C28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矩形 13">
              <a:extLst>
                <a:ext uri="{FF2B5EF4-FFF2-40B4-BE49-F238E27FC236}">
                  <a16:creationId xmlns:a16="http://schemas.microsoft.com/office/drawing/2014/main" id="{7402DD78-561C-4E4A-9131-56F32E913BA0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4" name="文本框 15">
              <a:extLst>
                <a:ext uri="{FF2B5EF4-FFF2-40B4-BE49-F238E27FC236}">
                  <a16:creationId xmlns:a16="http://schemas.microsoft.com/office/drawing/2014/main" id="{7BE7850B-DB89-4939-8B9F-08E87A592B05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15" name="矩形 13">
              <a:extLst>
                <a:ext uri="{FF2B5EF4-FFF2-40B4-BE49-F238E27FC236}">
                  <a16:creationId xmlns:a16="http://schemas.microsoft.com/office/drawing/2014/main" id="{4821ECEB-5DCD-4780-8BA6-E48654F5DB65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6" name="矩形 13">
              <a:extLst>
                <a:ext uri="{FF2B5EF4-FFF2-40B4-BE49-F238E27FC236}">
                  <a16:creationId xmlns:a16="http://schemas.microsoft.com/office/drawing/2014/main" id="{648D93AC-ED6F-4DF5-A58B-A8DB369F7E3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7" name="矩形 13">
              <a:extLst>
                <a:ext uri="{FF2B5EF4-FFF2-40B4-BE49-F238E27FC236}">
                  <a16:creationId xmlns:a16="http://schemas.microsoft.com/office/drawing/2014/main" id="{E3E6EC3D-1867-4ECC-9F16-D29D3271CF3A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8" name="矩形 13">
              <a:extLst>
                <a:ext uri="{FF2B5EF4-FFF2-40B4-BE49-F238E27FC236}">
                  <a16:creationId xmlns:a16="http://schemas.microsoft.com/office/drawing/2014/main" id="{F5E34584-5D8D-4E4C-8F52-24B9319EC2F4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9" name="矩形 13">
              <a:extLst>
                <a:ext uri="{FF2B5EF4-FFF2-40B4-BE49-F238E27FC236}">
                  <a16:creationId xmlns:a16="http://schemas.microsoft.com/office/drawing/2014/main" id="{861F380C-7EE2-4915-A1B4-2DEC2F665DCD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0" name="矩形 13">
              <a:extLst>
                <a:ext uri="{FF2B5EF4-FFF2-40B4-BE49-F238E27FC236}">
                  <a16:creationId xmlns:a16="http://schemas.microsoft.com/office/drawing/2014/main" id="{FB920400-BC53-45C0-8624-91B8E82BC5D2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1" name="矩形 13">
              <a:extLst>
                <a:ext uri="{FF2B5EF4-FFF2-40B4-BE49-F238E27FC236}">
                  <a16:creationId xmlns:a16="http://schemas.microsoft.com/office/drawing/2014/main" id="{31078EDC-4A9F-43A4-9BA9-907569D85C92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2" name="矩形 13">
              <a:extLst>
                <a:ext uri="{FF2B5EF4-FFF2-40B4-BE49-F238E27FC236}">
                  <a16:creationId xmlns:a16="http://schemas.microsoft.com/office/drawing/2014/main" id="{BF5ECD26-9AAC-4B7D-B7B9-5D3E0A2E9DA4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3" name="矩形 13">
              <a:extLst>
                <a:ext uri="{FF2B5EF4-FFF2-40B4-BE49-F238E27FC236}">
                  <a16:creationId xmlns:a16="http://schemas.microsoft.com/office/drawing/2014/main" id="{9D857771-ACBB-41B6-8066-2ED34322E55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4" name="矩形 13">
              <a:extLst>
                <a:ext uri="{FF2B5EF4-FFF2-40B4-BE49-F238E27FC236}">
                  <a16:creationId xmlns:a16="http://schemas.microsoft.com/office/drawing/2014/main" id="{E5C2B2E4-7360-4919-AFF0-3278A14D20A3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5" name="矩形 13">
              <a:extLst>
                <a:ext uri="{FF2B5EF4-FFF2-40B4-BE49-F238E27FC236}">
                  <a16:creationId xmlns:a16="http://schemas.microsoft.com/office/drawing/2014/main" id="{205FF6C6-9AD5-4A14-97CD-DCA40CA434F5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6" name="矩形 13">
              <a:extLst>
                <a:ext uri="{FF2B5EF4-FFF2-40B4-BE49-F238E27FC236}">
                  <a16:creationId xmlns:a16="http://schemas.microsoft.com/office/drawing/2014/main" id="{569590BE-ACA3-4165-A3C8-EF0EC6DE1F37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矩形 13">
              <a:extLst>
                <a:ext uri="{FF2B5EF4-FFF2-40B4-BE49-F238E27FC236}">
                  <a16:creationId xmlns:a16="http://schemas.microsoft.com/office/drawing/2014/main" id="{A948AC6C-3900-47EE-9D2B-DAAC34E5977E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00E044ED-DB0C-4B5B-AA77-2ED06094E771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29" name="矩形 13">
              <a:extLst>
                <a:ext uri="{FF2B5EF4-FFF2-40B4-BE49-F238E27FC236}">
                  <a16:creationId xmlns:a16="http://schemas.microsoft.com/office/drawing/2014/main" id="{AF4BCC50-7A8D-4CF9-9D32-45E989EE069A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CE13758F-40BE-46B4-B658-12AE1F130F54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0F7F976C-16D5-4D99-9DA3-F8F819C590B4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4EC6DA09-C57C-4765-A960-35241AA4D022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3736C081-FFDA-43EE-911D-ED4CF1851E34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D7DD5600-BA67-4684-B31D-5D51E301D21F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C3B5A4E-6C32-4D05-AF55-90FF1B2229EE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F88EA78A-8884-4B54-B1DC-FEF751661CA0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30D76234-18BB-4226-91F3-496541FDB173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742E2780-BD5E-413B-9BE8-96DFFF8B5649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89CF25F0-ACC6-4FC4-948A-BCE4A802FD25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8D2EF9D5-EBCD-490B-B8B9-645C824F91AD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0286ECB3-922D-48DD-AFE7-9C6E9060C6F2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26843338-C6AE-4E98-95C9-EA160CC2B30A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F41285F2-C98F-44DF-810D-AFDA8C2F7252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16800BF-7174-4B63-B993-7FF3F38E786A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E3AFA688-A359-4262-BC4E-961D2F75A295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B114B30-92C9-6A9A-1B4A-D1E07130C2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76772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8" r:id="rId13"/>
    <p:sldLayoutId id="2147483929" r:id="rId14"/>
    <p:sldLayoutId id="2147483932" r:id="rId15"/>
    <p:sldLayoutId id="2147483933" r:id="rId16"/>
    <p:sldLayoutId id="2147483935" r:id="rId17"/>
    <p:sldLayoutId id="2147483937" r:id="rId18"/>
    <p:sldLayoutId id="2147483942" r:id="rId19"/>
    <p:sldLayoutId id="2147483943" r:id="rId20"/>
    <p:sldLayoutId id="2147483944" r:id="rId21"/>
    <p:sldLayoutId id="2147483945" r:id="rId22"/>
    <p:sldLayoutId id="2147483947" r:id="rId23"/>
    <p:sldLayoutId id="2147483949" r:id="rId24"/>
    <p:sldLayoutId id="2147483955" r:id="rId25"/>
    <p:sldLayoutId id="2147483957" r:id="rId26"/>
    <p:sldLayoutId id="2147483959" r:id="rId27"/>
    <p:sldLayoutId id="2147483960" r:id="rId28"/>
    <p:sldLayoutId id="2147483974" r:id="rId29"/>
    <p:sldLayoutId id="2147483975" r:id="rId30"/>
    <p:sldLayoutId id="2147483976" r:id="rId3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29CACE2F-0E0B-7EF5-2379-ADEF8F0CE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12421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4" r:id="rId3"/>
    <p:sldLayoutId id="2147483996" r:id="rId4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74A9514-CC8C-A070-E02B-9C6C38B656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180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66502855-B4BB-29E8-984A-423A47123B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53392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4" r:id="rId2"/>
    <p:sldLayoutId id="2147484005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648AF41D-89FB-D3B3-6121-6544D9A099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06876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10" r:id="rId2"/>
    <p:sldLayoutId id="2147484011" r:id="rId3"/>
    <p:sldLayoutId id="2147484012" r:id="rId4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87CD0838-8713-DD40-312B-1EE6A03CEC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3689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40" r:id="rId2"/>
    <p:sldLayoutId id="2147484041" r:id="rId3"/>
    <p:sldLayoutId id="2147484042" r:id="rId4"/>
    <p:sldLayoutId id="2147484043" r:id="rId5"/>
    <p:sldLayoutId id="2147484044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CDB1A7D1-EA3F-4B19-D49B-37DE7FB367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3868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8" r:id="rId2"/>
    <p:sldLayoutId id="2147484049" r:id="rId3"/>
    <p:sldLayoutId id="2147484050" r:id="rId4"/>
    <p:sldLayoutId id="2147484051" r:id="rId5"/>
    <p:sldLayoutId id="2147484052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96365B8-6C6F-3CD4-1956-C032A957C3D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260301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1A07249-2DE0-6353-50D9-978928606C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58800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1" r:id="rId2"/>
    <p:sldLayoutId id="2147484122" r:id="rId3"/>
    <p:sldLayoutId id="2147484123" r:id="rId4"/>
    <p:sldLayoutId id="2147484124" r:id="rId5"/>
    <p:sldLayoutId id="2147484125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7BBE9E7-F340-F7C0-B650-DD181D9F3DB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141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9" r:id="rId2"/>
    <p:sldLayoutId id="2147484130" r:id="rId3"/>
    <p:sldLayoutId id="2147484131" r:id="rId4"/>
    <p:sldLayoutId id="2147484132" r:id="rId5"/>
    <p:sldLayoutId id="2147484133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C1B9E04-9D29-6D53-5AC1-9880CAF5DCB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36644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7" r:id="rId2"/>
    <p:sldLayoutId id="2147484138" r:id="rId3"/>
    <p:sldLayoutId id="2147484139" r:id="rId4"/>
    <p:sldLayoutId id="2147484140" r:id="rId5"/>
    <p:sldLayoutId id="2147484141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7EEC7B16-F103-3CE3-A476-9B8FF2931D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9615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AF2D4CE-D8EF-7804-5261-3FFF0F3C20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90877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44043C6-6593-8925-16FB-8F3DFED72B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7983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</p:sldLayoutIdLst>
  <p:hf sldNum="0"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905">
                <a:defRPr/>
              </a:pPr>
              <a:t>‹Nº›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EC6639E-F5AD-AF69-8896-F3F523ABE1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4911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21E7D9F-2AB1-F4F8-6736-27326198C2C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8997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C9ADB58-2C97-5488-5525-A567AEC95E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467918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Arial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Arial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Arial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7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标题占位符 1"/>
          <p:cNvSpPr>
            <a:spLocks noGrp="1"/>
          </p:cNvSpPr>
          <p:nvPr>
            <p:ph type="title"/>
          </p:nvPr>
        </p:nvSpPr>
        <p:spPr bwMode="auto">
          <a:xfrm>
            <a:off x="609680" y="274638"/>
            <a:ext cx="109774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80" y="1600201"/>
            <a:ext cx="1097740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79" y="6356351"/>
            <a:ext cx="2846759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731" y="6356351"/>
            <a:ext cx="3861303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152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 dirty="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5EF0CD69-34B8-498B-B185-8D66CC901867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 dirty="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780" y="44451"/>
            <a:ext cx="1235983" cy="3416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0EB32A8-798F-A195-E34A-115527F896C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5623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</p:sldLayoutIdLst>
  <p:hf hdr="0" dt="0"/>
  <p:txStyles>
    <p:titleStyle>
      <a:lvl1pPr algn="ctr" defTabSz="1219200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7200" indent="-4572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23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19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15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jpeg"/><Relationship Id="rId11" Type="http://schemas.openxmlformats.org/officeDocument/2006/relationships/image" Target="../media/image37.jpeg"/><Relationship Id="rId5" Type="http://schemas.openxmlformats.org/officeDocument/2006/relationships/image" Target="../media/image31.png"/><Relationship Id="rId10" Type="http://schemas.openxmlformats.org/officeDocument/2006/relationships/image" Target="../media/image36.jpeg"/><Relationship Id="rId4" Type="http://schemas.openxmlformats.org/officeDocument/2006/relationships/image" Target="../media/image30.png"/><Relationship Id="rId9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jpeg"/><Relationship Id="rId10" Type="http://schemas.openxmlformats.org/officeDocument/2006/relationships/image" Target="../media/image45.jpeg"/><Relationship Id="rId4" Type="http://schemas.openxmlformats.org/officeDocument/2006/relationships/image" Target="../media/image39.png"/><Relationship Id="rId9" Type="http://schemas.openxmlformats.org/officeDocument/2006/relationships/image" Target="../media/image4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2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2AB2403-664D-CE24-1FF9-90CA47280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6321" y="643466"/>
            <a:ext cx="9904119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73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380638B-85D6-45F0-2F98-5A0EB3ABD5B7}"/>
              </a:ext>
            </a:extLst>
          </p:cNvPr>
          <p:cNvSpPr txBox="1"/>
          <p:nvPr/>
        </p:nvSpPr>
        <p:spPr>
          <a:xfrm>
            <a:off x="170330" y="215525"/>
            <a:ext cx="5351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800" b="1" i="1" dirty="0">
                <a:solidFill>
                  <a:srgbClr val="0062AC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Nos gustaría conocerlos un poco…</a:t>
            </a:r>
            <a:endParaRPr lang="es-AR" sz="2800" b="1" dirty="0">
              <a:solidFill>
                <a:srgbClr val="0062AC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BC79EE-5419-9BE5-FEAC-773FC5CE3AFA}"/>
              </a:ext>
            </a:extLst>
          </p:cNvPr>
          <p:cNvSpPr txBox="1"/>
          <p:nvPr/>
        </p:nvSpPr>
        <p:spPr>
          <a:xfrm>
            <a:off x="3774358" y="5110148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000" b="1" i="1" dirty="0">
                <a:solidFill>
                  <a:srgbClr val="1C1D1F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¿Qué esperan aprender y llevarse de esta asignatura ?</a:t>
            </a:r>
            <a:endParaRPr lang="es-AR" sz="2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6D208E-3802-1066-E6A4-BF380190CF53}"/>
              </a:ext>
            </a:extLst>
          </p:cNvPr>
          <p:cNvSpPr txBox="1"/>
          <p:nvPr/>
        </p:nvSpPr>
        <p:spPr>
          <a:xfrm>
            <a:off x="905147" y="1491029"/>
            <a:ext cx="88421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b="1" i="1" dirty="0">
                <a:solidFill>
                  <a:srgbClr val="1C1D1F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¿Quiénes están actualmente trabajando?</a:t>
            </a:r>
          </a:p>
          <a:p>
            <a:endParaRPr lang="es-AR" sz="2000" b="1" i="1" dirty="0">
              <a:solidFill>
                <a:srgbClr val="1C1D1F"/>
              </a:solidFill>
              <a:latin typeface="Roboto Thin" panose="02000000000000000000" pitchFamily="2" charset="0"/>
              <a:ea typeface="Roboto Thin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E5E81F-519F-B3A3-BDD5-A80478AC9A46}"/>
              </a:ext>
            </a:extLst>
          </p:cNvPr>
          <p:cNvSpPr txBox="1"/>
          <p:nvPr/>
        </p:nvSpPr>
        <p:spPr>
          <a:xfrm>
            <a:off x="2012623" y="2900479"/>
            <a:ext cx="861138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b="1" i="1" dirty="0">
                <a:solidFill>
                  <a:srgbClr val="1C1D1F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¿Quiénes están trabajando en Tecnología y que rol desarrollan en la compañía?</a:t>
            </a:r>
          </a:p>
          <a:p>
            <a:pPr marL="800140" lvl="1" indent="-342900">
              <a:buFont typeface="Arial" panose="020B0604020202020204" pitchFamily="34" charset="0"/>
              <a:buChar char="•"/>
            </a:pPr>
            <a:r>
              <a:rPr lang="es-AR" i="1" dirty="0">
                <a:solidFill>
                  <a:srgbClr val="1C1D1F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Infraestructura?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s-AR" i="1" dirty="0" err="1">
                <a:solidFill>
                  <a:srgbClr val="1C1D1F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DevSecOps</a:t>
            </a:r>
            <a:r>
              <a:rPr lang="es-AR" i="1" dirty="0">
                <a:solidFill>
                  <a:srgbClr val="1C1D1F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?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s-AR" i="1" dirty="0">
                <a:solidFill>
                  <a:srgbClr val="1C1D1F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Desarrollo?</a:t>
            </a:r>
          </a:p>
          <a:p>
            <a:pPr marL="742990" lvl="1" indent="-285750">
              <a:buFont typeface="Arial" panose="020B0604020202020204" pitchFamily="34" charset="0"/>
              <a:buChar char="•"/>
            </a:pPr>
            <a:r>
              <a:rPr lang="es-AR" i="1" dirty="0">
                <a:solidFill>
                  <a:srgbClr val="1C1D1F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Times New Roman" panose="02020603050405020304" pitchFamily="18" charset="0"/>
              </a:rPr>
              <a:t>AI/ML?</a:t>
            </a:r>
          </a:p>
        </p:txBody>
      </p:sp>
    </p:spTree>
    <p:extLst>
      <p:ext uri="{BB962C8B-B14F-4D97-AF65-F5344CB8AC3E}">
        <p14:creationId xmlns:p14="http://schemas.microsoft.com/office/powerpoint/2010/main" val="179257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Picture 20" descr="Claves para ser competitivo frente a las nuevas empresas de base ...">
            <a:extLst>
              <a:ext uri="{FF2B5EF4-FFF2-40B4-BE49-F238E27FC236}">
                <a16:creationId xmlns:a16="http://schemas.microsoft.com/office/drawing/2014/main" id="{5AE59C00-D118-158C-F049-59CE3BAB6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0" y="825340"/>
            <a:ext cx="12101821" cy="599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49">
            <a:extLst>
              <a:ext uri="{FF2B5EF4-FFF2-40B4-BE49-F238E27FC236}">
                <a16:creationId xmlns:a16="http://schemas.microsoft.com/office/drawing/2014/main" id="{66A9334B-D1B3-75C4-4ACE-147E0138CFB9}"/>
              </a:ext>
            </a:extLst>
          </p:cNvPr>
          <p:cNvCxnSpPr>
            <a:cxnSpLocks/>
          </p:cNvCxnSpPr>
          <p:nvPr/>
        </p:nvCxnSpPr>
        <p:spPr>
          <a:xfrm>
            <a:off x="566554" y="753059"/>
            <a:ext cx="4710296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4">
            <a:extLst>
              <a:ext uri="{FF2B5EF4-FFF2-40B4-BE49-F238E27FC236}">
                <a16:creationId xmlns:a16="http://schemas.microsoft.com/office/drawing/2014/main" id="{5789218E-812F-D8A5-CA62-EF47D65E0925}"/>
              </a:ext>
            </a:extLst>
          </p:cNvPr>
          <p:cNvSpPr/>
          <p:nvPr/>
        </p:nvSpPr>
        <p:spPr>
          <a:xfrm>
            <a:off x="442903" y="80146"/>
            <a:ext cx="5655477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defTabSz="121845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s-AR" sz="2400" b="1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Tema 1: </a:t>
            </a:r>
            <a:r>
              <a:rPr kumimoji="1" lang="es-AR" sz="2400" b="1" dirty="0">
                <a:solidFill>
                  <a:srgbClr val="0062AC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Tecnologías Digitales</a:t>
            </a:r>
          </a:p>
        </p:txBody>
      </p:sp>
    </p:spTree>
    <p:extLst>
      <p:ext uri="{BB962C8B-B14F-4D97-AF65-F5344CB8AC3E}">
        <p14:creationId xmlns:p14="http://schemas.microsoft.com/office/powerpoint/2010/main" val="35612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comotora de vapor revolucion industrial - Buscar con Google | Train">
            <a:extLst>
              <a:ext uri="{FF2B5EF4-FFF2-40B4-BE49-F238E27FC236}">
                <a16:creationId xmlns:a16="http://schemas.microsoft.com/office/drawing/2014/main" id="{F8B18E8B-A708-8D2E-323F-008B1DB7C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97" y="4887846"/>
            <a:ext cx="2247899" cy="16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成渝高铁“最快动车” 商务座媲美头等舱_电线电缆资讯_电缆网">
            <a:extLst>
              <a:ext uri="{FF2B5EF4-FFF2-40B4-BE49-F238E27FC236}">
                <a16:creationId xmlns:a16="http://schemas.microsoft.com/office/drawing/2014/main" id="{159AA471-F5D1-036D-7B8C-E5F8607D1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523" y="4887846"/>
            <a:ext cx="2849829" cy="16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Древние люди: их жизнь, быт и орудия :: SYL.ru">
            <a:extLst>
              <a:ext uri="{FF2B5EF4-FFF2-40B4-BE49-F238E27FC236}">
                <a16:creationId xmlns:a16="http://schemas.microsoft.com/office/drawing/2014/main" id="{588474C6-1BCC-7603-52AE-C93753252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98" y="1293743"/>
            <a:ext cx="2247899" cy="322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NASA Remembers Astronaut Bruce McCandless II | NASA">
            <a:extLst>
              <a:ext uri="{FF2B5EF4-FFF2-40B4-BE49-F238E27FC236}">
                <a16:creationId xmlns:a16="http://schemas.microsoft.com/office/drawing/2014/main" id="{35BC9471-2A9D-4710-FF8E-D44184BB6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522" y="1293743"/>
            <a:ext cx="2849829" cy="322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479E4FD5-19B3-D7EF-1453-E0A9783D0325}"/>
              </a:ext>
            </a:extLst>
          </p:cNvPr>
          <p:cNvSpPr/>
          <p:nvPr/>
        </p:nvSpPr>
        <p:spPr>
          <a:xfrm>
            <a:off x="4876800" y="3162300"/>
            <a:ext cx="2247899" cy="135255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TECNOLOGÍA</a:t>
            </a: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56986BD8-5AA7-8D18-0A0A-28A8107D6A43}"/>
              </a:ext>
            </a:extLst>
          </p:cNvPr>
          <p:cNvSpPr/>
          <p:nvPr/>
        </p:nvSpPr>
        <p:spPr>
          <a:xfrm>
            <a:off x="1681168" y="159672"/>
            <a:ext cx="8639161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121845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s-AR" sz="32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¿Qué es la Tecnología?</a:t>
            </a:r>
          </a:p>
        </p:txBody>
      </p:sp>
    </p:spTree>
    <p:extLst>
      <p:ext uri="{BB962C8B-B14F-4D97-AF65-F5344CB8AC3E}">
        <p14:creationId xmlns:p14="http://schemas.microsoft.com/office/powerpoint/2010/main" val="383082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1490585" y="1766339"/>
            <a:ext cx="92155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0" i="0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Las tecnologías sirven para resolver problemas, simplificar tareas, entretener, mejorar la comunicación, potenciar la productividad, facilitar el acceso a la información, fomentar la creatividad, aumentar la eficiencia energética, entre otros. </a:t>
            </a:r>
          </a:p>
          <a:p>
            <a:pPr algn="ctr"/>
            <a:r>
              <a:rPr lang="es-ES" sz="2400" b="0" i="0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Las tecnologías digitales en particular han revolucionado diversos sectores, como la educación, la salud, el comercio, la industria y el entretenimiento, proporcionando nuevas formas de interacción y oportunidades de desarrollo.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95B6210F-EE5A-95DA-B75E-2618E9F149CE}"/>
              </a:ext>
            </a:extLst>
          </p:cNvPr>
          <p:cNvSpPr/>
          <p:nvPr/>
        </p:nvSpPr>
        <p:spPr>
          <a:xfrm>
            <a:off x="3714944" y="1164771"/>
            <a:ext cx="5178685" cy="40361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400" b="1" i="1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Según Internet…</a:t>
            </a:r>
          </a:p>
        </p:txBody>
      </p:sp>
    </p:spTree>
    <p:extLst>
      <p:ext uri="{BB962C8B-B14F-4D97-AF65-F5344CB8AC3E}">
        <p14:creationId xmlns:p14="http://schemas.microsoft.com/office/powerpoint/2010/main" val="25182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1372399" y="1815321"/>
            <a:ext cx="921559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s-ES" sz="2400" b="1" i="1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Según </a:t>
            </a:r>
            <a:r>
              <a:rPr lang="es-ES" sz="2400" b="1" i="1" dirty="0" err="1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ChatGPT</a:t>
            </a:r>
            <a:r>
              <a:rPr lang="es-ES" sz="2400" b="1" i="1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…</a:t>
            </a:r>
          </a:p>
          <a:p>
            <a:pPr algn="ctr"/>
            <a:r>
              <a:rPr lang="es-ES" sz="2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La tecnología es el conjunto de </a:t>
            </a:r>
            <a:r>
              <a:rPr lang="es-ES" sz="24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conocimientos, herramientas y procesos</a:t>
            </a:r>
            <a:r>
              <a:rPr lang="es-ES" sz="2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 que se aplican en la creación, uso y modificación de sistemas, objetos y servicios para </a:t>
            </a:r>
            <a:r>
              <a:rPr lang="es-ES" sz="24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resolver problemas  o satisfacer necesidades humanas</a:t>
            </a:r>
            <a:r>
              <a:rPr lang="es-ES" sz="2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. </a:t>
            </a:r>
            <a:endParaRPr lang="es-AR" sz="2400" dirty="0">
              <a:solidFill>
                <a:srgbClr val="37415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35FB0EF-854D-F293-2E0F-2E66821BD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750" y="1815321"/>
            <a:ext cx="417009" cy="45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7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1372399" y="2459504"/>
            <a:ext cx="92155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La Tecnología se define como el conjunto de conocimientos y técnicas que, aplicados de forma lógica y ordenada, permiten al ser humano modificar su entorno material o virtual para satisfacer sus necesidades, esto es, un proceso combinado de pensamiento y acción con la finalidad de crear soluciones útiles.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417F87-0E0E-2F12-425C-265BC4B0D384}"/>
              </a:ext>
            </a:extLst>
          </p:cNvPr>
          <p:cNvSpPr txBox="1"/>
          <p:nvPr/>
        </p:nvSpPr>
        <p:spPr>
          <a:xfrm>
            <a:off x="1600201" y="1810435"/>
            <a:ext cx="8588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b="1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Según PEAPT </a:t>
            </a:r>
            <a:r>
              <a:rPr lang="es-ES" sz="1800" b="1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(Plataforma Estatal de Asociaciones del Profesorado de Tecnología) </a:t>
            </a:r>
            <a:r>
              <a:rPr lang="es-ES" b="1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3346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72F4DDE-4C38-8520-FCB8-6C2873B1AFCD}"/>
              </a:ext>
            </a:extLst>
          </p:cNvPr>
          <p:cNvSpPr/>
          <p:nvPr/>
        </p:nvSpPr>
        <p:spPr>
          <a:xfrm>
            <a:off x="1861454" y="1360714"/>
            <a:ext cx="2188028" cy="2177143"/>
          </a:xfrm>
          <a:prstGeom prst="ellipse">
            <a:avLst/>
          </a:prstGeom>
          <a:noFill/>
          <a:ln w="19050" cap="rnd" cmpd="sng" algn="ctr">
            <a:solidFill>
              <a:schemeClr val="bg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EAA822-1712-D722-A867-0F18E2FD05AF}"/>
              </a:ext>
            </a:extLst>
          </p:cNvPr>
          <p:cNvSpPr txBox="1"/>
          <p:nvPr/>
        </p:nvSpPr>
        <p:spPr>
          <a:xfrm>
            <a:off x="2258501" y="1564508"/>
            <a:ext cx="136071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Satisfacer necesidades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EB75AF-1134-77E1-3FD9-19E57E6F907B}"/>
              </a:ext>
            </a:extLst>
          </p:cNvPr>
          <p:cNvSpPr txBox="1"/>
          <p:nvPr/>
        </p:nvSpPr>
        <p:spPr>
          <a:xfrm>
            <a:off x="2229449" y="2177206"/>
            <a:ext cx="136071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Resolver problemas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C9C6A7B0-1257-0700-3F4D-2DD83C436370}"/>
              </a:ext>
            </a:extLst>
          </p:cNvPr>
          <p:cNvSpPr/>
          <p:nvPr/>
        </p:nvSpPr>
        <p:spPr>
          <a:xfrm>
            <a:off x="4227146" y="1888389"/>
            <a:ext cx="1340819" cy="1142097"/>
          </a:xfrm>
          <a:prstGeom prst="rightArrow">
            <a:avLst/>
          </a:prstGeom>
          <a:noFill/>
          <a:ln w="19050" cap="rnd" cmpd="sng" algn="ctr">
            <a:solidFill>
              <a:schemeClr val="bg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r>
              <a:rPr lang="es-AR" sz="1600" dirty="0">
                <a:solidFill>
                  <a:srgbClr val="C7000B"/>
                </a:solidFill>
              </a:rPr>
              <a:t>Descubrir</a:t>
            </a:r>
            <a:br>
              <a:rPr lang="es-AR" sz="1600" dirty="0">
                <a:solidFill>
                  <a:srgbClr val="C7000B"/>
                </a:solidFill>
              </a:rPr>
            </a:br>
            <a:r>
              <a:rPr lang="es-AR" sz="1600" dirty="0">
                <a:solidFill>
                  <a:srgbClr val="C7000B"/>
                </a:solidFill>
              </a:rPr>
              <a:t>Indagar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92D0204-6AF7-32D0-182F-7D7FA1BFC240}"/>
              </a:ext>
            </a:extLst>
          </p:cNvPr>
          <p:cNvGrpSpPr/>
          <p:nvPr/>
        </p:nvGrpSpPr>
        <p:grpSpPr>
          <a:xfrm>
            <a:off x="5763671" y="1575411"/>
            <a:ext cx="1768232" cy="503500"/>
            <a:chOff x="5584371" y="1575411"/>
            <a:chExt cx="1894114" cy="503500"/>
          </a:xfrm>
          <a:noFill/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FE8E4D6-0FF9-0AAA-830E-08FA3A8902A4}"/>
                </a:ext>
              </a:extLst>
            </p:cNvPr>
            <p:cNvSpPr/>
            <p:nvPr/>
          </p:nvSpPr>
          <p:spPr>
            <a:xfrm>
              <a:off x="5584371" y="1575411"/>
              <a:ext cx="1894114" cy="500743"/>
            </a:xfrm>
            <a:prstGeom prst="rect">
              <a:avLst/>
            </a:prstGeom>
            <a:grpFill/>
            <a:ln w="19050" cap="rnd" cmpd="sng" algn="ctr">
              <a:solidFill>
                <a:schemeClr val="bg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AR">
                <a:solidFill>
                  <a:srgbClr val="C7000B"/>
                </a:solidFill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DBCD8019-65C8-C524-7B30-38B019ECB78D}"/>
                </a:ext>
              </a:extLst>
            </p:cNvPr>
            <p:cNvSpPr txBox="1"/>
            <p:nvPr/>
          </p:nvSpPr>
          <p:spPr>
            <a:xfrm>
              <a:off x="5660801" y="1586468"/>
              <a:ext cx="1804804" cy="492443"/>
            </a:xfrm>
            <a:prstGeom prst="rect">
              <a:avLst/>
            </a:prstGeom>
            <a:grpFill/>
            <a:ln w="19050" cap="rnd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s-AR" sz="1600" dirty="0">
                  <a:solidFill>
                    <a:srgbClr val="C7000B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Ciencia</a:t>
              </a:r>
              <a:br>
                <a:rPr lang="es-AR" sz="1600" dirty="0">
                  <a:solidFill>
                    <a:srgbClr val="C7000B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</a:br>
              <a:r>
                <a:rPr lang="es-AR" sz="1600" dirty="0">
                  <a:solidFill>
                    <a:srgbClr val="C7000B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Conocimiento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52FF8587-C357-CD94-F63C-11B23FD7D2C7}"/>
              </a:ext>
            </a:extLst>
          </p:cNvPr>
          <p:cNvGrpSpPr/>
          <p:nvPr/>
        </p:nvGrpSpPr>
        <p:grpSpPr>
          <a:xfrm>
            <a:off x="5750063" y="2910444"/>
            <a:ext cx="1768232" cy="500743"/>
            <a:chOff x="5570762" y="3534085"/>
            <a:chExt cx="1894121" cy="500743"/>
          </a:xfrm>
          <a:noFill/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8FF0D8F8-A097-C86C-68A0-F753624A64BE}"/>
                </a:ext>
              </a:extLst>
            </p:cNvPr>
            <p:cNvSpPr/>
            <p:nvPr/>
          </p:nvSpPr>
          <p:spPr>
            <a:xfrm>
              <a:off x="5570762" y="3534085"/>
              <a:ext cx="1894121" cy="500743"/>
            </a:xfrm>
            <a:prstGeom prst="rect">
              <a:avLst/>
            </a:prstGeom>
            <a:grpFill/>
            <a:ln w="19050" cap="rnd" cmpd="sng" algn="ctr">
              <a:solidFill>
                <a:schemeClr val="bg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AR">
                <a:solidFill>
                  <a:srgbClr val="C7000B"/>
                </a:solidFill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BA852CC8-1AD8-DC06-D028-63E566322DD2}"/>
                </a:ext>
              </a:extLst>
            </p:cNvPr>
            <p:cNvSpPr txBox="1"/>
            <p:nvPr/>
          </p:nvSpPr>
          <p:spPr>
            <a:xfrm>
              <a:off x="5702056" y="3635067"/>
              <a:ext cx="1496792" cy="246221"/>
            </a:xfrm>
            <a:prstGeom prst="rect">
              <a:avLst/>
            </a:prstGeom>
            <a:grpFill/>
            <a:ln w="19050" cap="rnd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s-AR" sz="1600" dirty="0">
                  <a:solidFill>
                    <a:srgbClr val="C7000B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Herramientas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1AF3CD7-FAB9-DE34-761F-B1F2DA82FFA2}"/>
              </a:ext>
            </a:extLst>
          </p:cNvPr>
          <p:cNvGrpSpPr/>
          <p:nvPr/>
        </p:nvGrpSpPr>
        <p:grpSpPr>
          <a:xfrm>
            <a:off x="5763665" y="2228092"/>
            <a:ext cx="1768237" cy="500743"/>
            <a:chOff x="5584365" y="2928257"/>
            <a:chExt cx="1894120" cy="500743"/>
          </a:xfrm>
          <a:noFill/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F27C037-FDDF-4931-E487-E465B8C3744B}"/>
                </a:ext>
              </a:extLst>
            </p:cNvPr>
            <p:cNvSpPr/>
            <p:nvPr/>
          </p:nvSpPr>
          <p:spPr>
            <a:xfrm>
              <a:off x="5584365" y="2928257"/>
              <a:ext cx="1894120" cy="500743"/>
            </a:xfrm>
            <a:prstGeom prst="rect">
              <a:avLst/>
            </a:prstGeom>
            <a:grpFill/>
            <a:ln w="19050" cap="rnd" cmpd="sng" algn="ctr">
              <a:solidFill>
                <a:schemeClr val="bg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AR">
                <a:solidFill>
                  <a:srgbClr val="C7000B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AAD6BC3-50AF-EF0F-D42A-9AB871F3DEA8}"/>
                </a:ext>
              </a:extLst>
            </p:cNvPr>
            <p:cNvSpPr txBox="1"/>
            <p:nvPr/>
          </p:nvSpPr>
          <p:spPr>
            <a:xfrm>
              <a:off x="5690261" y="3051008"/>
              <a:ext cx="1050478" cy="246221"/>
            </a:xfrm>
            <a:prstGeom prst="rect">
              <a:avLst/>
            </a:prstGeom>
            <a:grpFill/>
            <a:ln w="19050" cap="rnd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s-AR" sz="1600" dirty="0">
                  <a:solidFill>
                    <a:srgbClr val="C7000B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Técnica</a:t>
              </a:r>
            </a:p>
          </p:txBody>
        </p:sp>
      </p:grp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6E3DE62A-2D71-AC33-0D70-3C8D14F9ADB2}"/>
              </a:ext>
            </a:extLst>
          </p:cNvPr>
          <p:cNvSpPr/>
          <p:nvPr/>
        </p:nvSpPr>
        <p:spPr>
          <a:xfrm>
            <a:off x="7713995" y="1924767"/>
            <a:ext cx="1469341" cy="1142096"/>
          </a:xfrm>
          <a:prstGeom prst="rightArrow">
            <a:avLst/>
          </a:prstGeom>
          <a:noFill/>
          <a:ln w="19050" cap="rnd" cmpd="sng" algn="ctr">
            <a:solidFill>
              <a:schemeClr val="bg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r>
              <a:rPr lang="es-AR" sz="1600" dirty="0">
                <a:solidFill>
                  <a:srgbClr val="C7000B"/>
                </a:solidFill>
              </a:rPr>
              <a:t>Crear</a:t>
            </a:r>
            <a:br>
              <a:rPr lang="es-AR" sz="1600" dirty="0">
                <a:solidFill>
                  <a:srgbClr val="C7000B"/>
                </a:solidFill>
              </a:rPr>
            </a:br>
            <a:r>
              <a:rPr lang="es-AR" sz="1600" dirty="0">
                <a:solidFill>
                  <a:srgbClr val="C7000B"/>
                </a:solidFill>
              </a:rPr>
              <a:t>Desarrollar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C06A923-45A3-F10C-0C55-7E4D8F097BA5}"/>
              </a:ext>
            </a:extLst>
          </p:cNvPr>
          <p:cNvSpPr/>
          <p:nvPr/>
        </p:nvSpPr>
        <p:spPr>
          <a:xfrm>
            <a:off x="9354365" y="1360711"/>
            <a:ext cx="2188028" cy="2177143"/>
          </a:xfrm>
          <a:prstGeom prst="ellipse">
            <a:avLst/>
          </a:prstGeom>
          <a:solidFill>
            <a:srgbClr val="EDEDEC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A48D45-6D36-9A07-4EB0-4A2D7E113886}"/>
              </a:ext>
            </a:extLst>
          </p:cNvPr>
          <p:cNvSpPr txBox="1"/>
          <p:nvPr/>
        </p:nvSpPr>
        <p:spPr>
          <a:xfrm>
            <a:off x="9996627" y="1641452"/>
            <a:ext cx="1360715" cy="830997"/>
          </a:xfrm>
          <a:prstGeom prst="rect">
            <a:avLst/>
          </a:prstGeom>
          <a:noFill/>
          <a:ln w="19050" cap="rnd"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AR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Bienes</a:t>
            </a:r>
            <a:br>
              <a:rPr lang="es-AR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s-AR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Productos</a:t>
            </a:r>
            <a:br>
              <a:rPr lang="es-AR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s-AR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Servicios</a:t>
            </a:r>
          </a:p>
        </p:txBody>
      </p:sp>
      <p:sp>
        <p:nvSpPr>
          <p:cNvPr id="20" name="Flecha: doblada hacia arriba 19">
            <a:extLst>
              <a:ext uri="{FF2B5EF4-FFF2-40B4-BE49-F238E27FC236}">
                <a16:creationId xmlns:a16="http://schemas.microsoft.com/office/drawing/2014/main" id="{F746F9F3-EAE9-2F3C-2783-8CAC2204EEBE}"/>
              </a:ext>
            </a:extLst>
          </p:cNvPr>
          <p:cNvSpPr/>
          <p:nvPr/>
        </p:nvSpPr>
        <p:spPr>
          <a:xfrm rot="5400000">
            <a:off x="7932065" y="3291116"/>
            <a:ext cx="2314375" cy="2960269"/>
          </a:xfrm>
          <a:prstGeom prst="bentUpArrow">
            <a:avLst>
              <a:gd name="adj1" fmla="val 8462"/>
              <a:gd name="adj2" fmla="val 9826"/>
              <a:gd name="adj3" fmla="val 20438"/>
            </a:avLst>
          </a:prstGeom>
          <a:solidFill>
            <a:schemeClr val="bg2">
              <a:alpha val="25000"/>
            </a:schemeClr>
          </a:solidFill>
          <a:ln>
            <a:solidFill>
              <a:schemeClr val="bg1"/>
            </a:solidFill>
          </a:ln>
          <a:scene3d>
            <a:camera prst="orthographicFront">
              <a:rot lat="10800000" lon="0" rev="10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0A0A59C-DDEA-0B7D-F6AC-5C39668689E8}"/>
              </a:ext>
            </a:extLst>
          </p:cNvPr>
          <p:cNvSpPr/>
          <p:nvPr/>
        </p:nvSpPr>
        <p:spPr>
          <a:xfrm>
            <a:off x="5570763" y="5467638"/>
            <a:ext cx="1894120" cy="500743"/>
          </a:xfrm>
          <a:prstGeom prst="rect">
            <a:avLst/>
          </a:prstGeom>
          <a:noFill/>
          <a:ln w="19050" cap="rnd" cmpd="sng" algn="ctr">
            <a:solidFill>
              <a:schemeClr val="bg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B050"/>
                </a:solidFill>
              </a:rPr>
              <a:t>Solución</a:t>
            </a:r>
          </a:p>
        </p:txBody>
      </p:sp>
      <p:sp>
        <p:nvSpPr>
          <p:cNvPr id="22" name="Flecha: doblada hacia arriba 21">
            <a:extLst>
              <a:ext uri="{FF2B5EF4-FFF2-40B4-BE49-F238E27FC236}">
                <a16:creationId xmlns:a16="http://schemas.microsoft.com/office/drawing/2014/main" id="{C04EE0C6-6E38-6F73-A160-13739FF7485D}"/>
              </a:ext>
            </a:extLst>
          </p:cNvPr>
          <p:cNvSpPr/>
          <p:nvPr/>
        </p:nvSpPr>
        <p:spPr>
          <a:xfrm rot="10800000">
            <a:off x="2803067" y="3603413"/>
            <a:ext cx="2623459" cy="2177143"/>
          </a:xfrm>
          <a:prstGeom prst="bentUpArrow">
            <a:avLst>
              <a:gd name="adj1" fmla="val 8206"/>
              <a:gd name="adj2" fmla="val 11133"/>
              <a:gd name="adj3" fmla="val 15598"/>
            </a:avLst>
          </a:prstGeom>
          <a:solidFill>
            <a:schemeClr val="bg2">
              <a:alpha val="25000"/>
            </a:schemeClr>
          </a:solidFill>
          <a:ln>
            <a:solidFill>
              <a:schemeClr val="bg1"/>
            </a:solidFill>
          </a:ln>
          <a:scene3d>
            <a:camera prst="orthographicFront">
              <a:rot lat="10800000" lon="0" rev="10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0CF05039-D470-635A-6356-56EF25A397AC}"/>
              </a:ext>
            </a:extLst>
          </p:cNvPr>
          <p:cNvSpPr/>
          <p:nvPr/>
        </p:nvSpPr>
        <p:spPr>
          <a:xfrm>
            <a:off x="3958159" y="801597"/>
            <a:ext cx="5435537" cy="3411815"/>
          </a:xfrm>
          <a:custGeom>
            <a:avLst/>
            <a:gdLst>
              <a:gd name="connsiteX0" fmla="*/ 2301723 w 4815445"/>
              <a:gd name="connsiteY0" fmla="*/ 141515 h 3239546"/>
              <a:gd name="connsiteX1" fmla="*/ 3891037 w 4815445"/>
              <a:gd name="connsiteY1" fmla="*/ 435429 h 3239546"/>
              <a:gd name="connsiteX2" fmla="*/ 4729237 w 4815445"/>
              <a:gd name="connsiteY2" fmla="*/ 1284515 h 3239546"/>
              <a:gd name="connsiteX3" fmla="*/ 4653037 w 4815445"/>
              <a:gd name="connsiteY3" fmla="*/ 2318657 h 3239546"/>
              <a:gd name="connsiteX4" fmla="*/ 3531809 w 4815445"/>
              <a:gd name="connsiteY4" fmla="*/ 3113315 h 3239546"/>
              <a:gd name="connsiteX5" fmla="*/ 2367037 w 4815445"/>
              <a:gd name="connsiteY5" fmla="*/ 3222172 h 3239546"/>
              <a:gd name="connsiteX6" fmla="*/ 1017209 w 4815445"/>
              <a:gd name="connsiteY6" fmla="*/ 2950029 h 3239546"/>
              <a:gd name="connsiteX7" fmla="*/ 179009 w 4815445"/>
              <a:gd name="connsiteY7" fmla="*/ 2318657 h 3239546"/>
              <a:gd name="connsiteX8" fmla="*/ 59266 w 4815445"/>
              <a:gd name="connsiteY8" fmla="*/ 1208315 h 3239546"/>
              <a:gd name="connsiteX9" fmla="*/ 919237 w 4815445"/>
              <a:gd name="connsiteY9" fmla="*/ 435429 h 3239546"/>
              <a:gd name="connsiteX10" fmla="*/ 2454123 w 4815445"/>
              <a:gd name="connsiteY10" fmla="*/ 0 h 323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15445" h="3239546">
                <a:moveTo>
                  <a:pt x="2301723" y="141515"/>
                </a:moveTo>
                <a:cubicBezTo>
                  <a:pt x="2894087" y="193222"/>
                  <a:pt x="3486451" y="244929"/>
                  <a:pt x="3891037" y="435429"/>
                </a:cubicBezTo>
                <a:cubicBezTo>
                  <a:pt x="4295623" y="625929"/>
                  <a:pt x="4602237" y="970644"/>
                  <a:pt x="4729237" y="1284515"/>
                </a:cubicBezTo>
                <a:cubicBezTo>
                  <a:pt x="4856237" y="1598386"/>
                  <a:pt x="4852608" y="2013857"/>
                  <a:pt x="4653037" y="2318657"/>
                </a:cubicBezTo>
                <a:cubicBezTo>
                  <a:pt x="4453466" y="2623457"/>
                  <a:pt x="3912809" y="2962729"/>
                  <a:pt x="3531809" y="3113315"/>
                </a:cubicBezTo>
                <a:cubicBezTo>
                  <a:pt x="3150809" y="3263901"/>
                  <a:pt x="2786137" y="3249386"/>
                  <a:pt x="2367037" y="3222172"/>
                </a:cubicBezTo>
                <a:cubicBezTo>
                  <a:pt x="1947937" y="3194958"/>
                  <a:pt x="1381880" y="3100615"/>
                  <a:pt x="1017209" y="2950029"/>
                </a:cubicBezTo>
                <a:cubicBezTo>
                  <a:pt x="652538" y="2799443"/>
                  <a:pt x="338666" y="2608943"/>
                  <a:pt x="179009" y="2318657"/>
                </a:cubicBezTo>
                <a:cubicBezTo>
                  <a:pt x="19352" y="2028371"/>
                  <a:pt x="-64105" y="1522186"/>
                  <a:pt x="59266" y="1208315"/>
                </a:cubicBezTo>
                <a:cubicBezTo>
                  <a:pt x="182637" y="894444"/>
                  <a:pt x="520094" y="636815"/>
                  <a:pt x="919237" y="435429"/>
                </a:cubicBezTo>
                <a:cubicBezTo>
                  <a:pt x="1318380" y="234043"/>
                  <a:pt x="2158394" y="78014"/>
                  <a:pt x="2454123" y="0"/>
                </a:cubicBezTo>
              </a:path>
            </a:pathLst>
          </a:cu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A4F0614-D4B5-BB78-EE14-DF8236AC313B}"/>
              </a:ext>
            </a:extLst>
          </p:cNvPr>
          <p:cNvSpPr txBox="1"/>
          <p:nvPr/>
        </p:nvSpPr>
        <p:spPr>
          <a:xfrm>
            <a:off x="5589820" y="287415"/>
            <a:ext cx="201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800" dirty="0">
                <a:solidFill>
                  <a:srgbClr val="C7000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Tecnología</a:t>
            </a:r>
          </a:p>
        </p:txBody>
      </p:sp>
      <p:pic>
        <p:nvPicPr>
          <p:cNvPr id="8200" name="Picture 8" descr="Sociedad - Iconos gratis de social">
            <a:extLst>
              <a:ext uri="{FF2B5EF4-FFF2-40B4-BE49-F238E27FC236}">
                <a16:creationId xmlns:a16="http://schemas.microsoft.com/office/drawing/2014/main" id="{E92059B4-85E6-3E1C-F27E-BE4F9F1DB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066" y="2764351"/>
            <a:ext cx="678803" cy="67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Equipo de tecnología png imágenes | PNGWing">
            <a:extLst>
              <a:ext uri="{FF2B5EF4-FFF2-40B4-BE49-F238E27FC236}">
                <a16:creationId xmlns:a16="http://schemas.microsoft.com/office/drawing/2014/main" id="{B86E7678-2210-2D42-A8ED-E90C84E7E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1092" y="2495815"/>
            <a:ext cx="1335066" cy="74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82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  <p:bldP spid="8" grpId="0" animBg="1"/>
      <p:bldP spid="15" grpId="0" animBg="1"/>
      <p:bldP spid="16" grpId="0" animBg="1"/>
      <p:bldP spid="17" grpId="0"/>
      <p:bldP spid="20" grpId="0" animBg="1"/>
      <p:bldP spid="21" grpId="0" animBg="1"/>
      <p:bldP spid="22" grpId="0" animBg="1"/>
      <p:bldP spid="29" grpId="0" animBg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1">
            <a:extLst>
              <a:ext uri="{FF2B5EF4-FFF2-40B4-BE49-F238E27FC236}">
                <a16:creationId xmlns:a16="http://schemas.microsoft.com/office/drawing/2014/main" id="{019FC2D0-78D5-0043-CBE3-D6D25196C70C}"/>
              </a:ext>
            </a:extLst>
          </p:cNvPr>
          <p:cNvSpPr/>
          <p:nvPr/>
        </p:nvSpPr>
        <p:spPr>
          <a:xfrm>
            <a:off x="779785" y="1417426"/>
            <a:ext cx="10378465" cy="1062502"/>
          </a:xfrm>
          <a:custGeom>
            <a:avLst/>
            <a:gdLst/>
            <a:ahLst/>
            <a:cxnLst/>
            <a:rect l="l" t="t" r="r" b="b"/>
            <a:pathLst>
              <a:path w="18062575" h="1482089">
                <a:moveTo>
                  <a:pt x="0" y="1481697"/>
                </a:moveTo>
                <a:lnTo>
                  <a:pt x="73452" y="1455822"/>
                </a:lnTo>
                <a:lnTo>
                  <a:pt x="200363" y="1411931"/>
                </a:lnTo>
                <a:lnTo>
                  <a:pt x="327864" y="1368649"/>
                </a:lnTo>
                <a:lnTo>
                  <a:pt x="455951" y="1325977"/>
                </a:lnTo>
                <a:lnTo>
                  <a:pt x="584618" y="1283920"/>
                </a:lnTo>
                <a:lnTo>
                  <a:pt x="713862" y="1242480"/>
                </a:lnTo>
                <a:lnTo>
                  <a:pt x="843676" y="1201661"/>
                </a:lnTo>
                <a:lnTo>
                  <a:pt x="974058" y="1161465"/>
                </a:lnTo>
                <a:lnTo>
                  <a:pt x="1105000" y="1121896"/>
                </a:lnTo>
                <a:lnTo>
                  <a:pt x="1236500" y="1082956"/>
                </a:lnTo>
                <a:lnTo>
                  <a:pt x="1368552" y="1044650"/>
                </a:lnTo>
                <a:lnTo>
                  <a:pt x="1501150" y="1006979"/>
                </a:lnTo>
                <a:lnTo>
                  <a:pt x="1634292" y="969946"/>
                </a:lnTo>
                <a:lnTo>
                  <a:pt x="1767970" y="933556"/>
                </a:lnTo>
                <a:lnTo>
                  <a:pt x="1902182" y="897811"/>
                </a:lnTo>
                <a:lnTo>
                  <a:pt x="2036922" y="862713"/>
                </a:lnTo>
                <a:lnTo>
                  <a:pt x="2172185" y="828267"/>
                </a:lnTo>
                <a:lnTo>
                  <a:pt x="2307966" y="794475"/>
                </a:lnTo>
                <a:lnTo>
                  <a:pt x="2444261" y="761340"/>
                </a:lnTo>
                <a:lnTo>
                  <a:pt x="2581064" y="728865"/>
                </a:lnTo>
                <a:lnTo>
                  <a:pt x="2718372" y="697053"/>
                </a:lnTo>
                <a:lnTo>
                  <a:pt x="2856178" y="665908"/>
                </a:lnTo>
                <a:lnTo>
                  <a:pt x="2994480" y="635432"/>
                </a:lnTo>
                <a:lnTo>
                  <a:pt x="3133270" y="605629"/>
                </a:lnTo>
                <a:lnTo>
                  <a:pt x="3272546" y="576501"/>
                </a:lnTo>
                <a:lnTo>
                  <a:pt x="3412301" y="548051"/>
                </a:lnTo>
                <a:lnTo>
                  <a:pt x="3552532" y="520284"/>
                </a:lnTo>
                <a:lnTo>
                  <a:pt x="3693233" y="493201"/>
                </a:lnTo>
                <a:lnTo>
                  <a:pt x="3834400" y="466805"/>
                </a:lnTo>
                <a:lnTo>
                  <a:pt x="3976027" y="441101"/>
                </a:lnTo>
                <a:lnTo>
                  <a:pt x="4118110" y="416090"/>
                </a:lnTo>
                <a:lnTo>
                  <a:pt x="4260645" y="391776"/>
                </a:lnTo>
                <a:lnTo>
                  <a:pt x="4403626" y="368163"/>
                </a:lnTo>
                <a:lnTo>
                  <a:pt x="4547048" y="345252"/>
                </a:lnTo>
                <a:lnTo>
                  <a:pt x="4690907" y="323047"/>
                </a:lnTo>
                <a:lnTo>
                  <a:pt x="4835198" y="301552"/>
                </a:lnTo>
                <a:lnTo>
                  <a:pt x="4979916" y="280768"/>
                </a:lnTo>
                <a:lnTo>
                  <a:pt x="5125057" y="260700"/>
                </a:lnTo>
                <a:lnTo>
                  <a:pt x="5270615" y="241350"/>
                </a:lnTo>
                <a:lnTo>
                  <a:pt x="5416586" y="222722"/>
                </a:lnTo>
                <a:lnTo>
                  <a:pt x="5562965" y="204818"/>
                </a:lnTo>
                <a:lnTo>
                  <a:pt x="5709747" y="187642"/>
                </a:lnTo>
                <a:lnTo>
                  <a:pt x="5856927" y="171196"/>
                </a:lnTo>
                <a:lnTo>
                  <a:pt x="6004501" y="155483"/>
                </a:lnTo>
                <a:lnTo>
                  <a:pt x="6152463" y="140507"/>
                </a:lnTo>
                <a:lnTo>
                  <a:pt x="6300810" y="126271"/>
                </a:lnTo>
                <a:lnTo>
                  <a:pt x="6449535" y="112778"/>
                </a:lnTo>
                <a:lnTo>
                  <a:pt x="6598635" y="100031"/>
                </a:lnTo>
                <a:lnTo>
                  <a:pt x="6748105" y="88032"/>
                </a:lnTo>
                <a:lnTo>
                  <a:pt x="6897939" y="76786"/>
                </a:lnTo>
                <a:lnTo>
                  <a:pt x="7048133" y="66294"/>
                </a:lnTo>
                <a:lnTo>
                  <a:pt x="7198682" y="56561"/>
                </a:lnTo>
                <a:lnTo>
                  <a:pt x="7349582" y="47588"/>
                </a:lnTo>
                <a:lnTo>
                  <a:pt x="7500827" y="39380"/>
                </a:lnTo>
                <a:lnTo>
                  <a:pt x="7652413" y="31939"/>
                </a:lnTo>
                <a:lnTo>
                  <a:pt x="7804334" y="25268"/>
                </a:lnTo>
                <a:lnTo>
                  <a:pt x="7956587" y="19371"/>
                </a:lnTo>
                <a:lnTo>
                  <a:pt x="8109166" y="14250"/>
                </a:lnTo>
                <a:lnTo>
                  <a:pt x="8262066" y="9908"/>
                </a:lnTo>
                <a:lnTo>
                  <a:pt x="8415284" y="6349"/>
                </a:lnTo>
                <a:lnTo>
                  <a:pt x="8568813" y="3576"/>
                </a:lnTo>
                <a:lnTo>
                  <a:pt x="8722649" y="1591"/>
                </a:lnTo>
                <a:lnTo>
                  <a:pt x="8876788" y="398"/>
                </a:lnTo>
                <a:lnTo>
                  <a:pt x="9031224" y="0"/>
                </a:lnTo>
                <a:lnTo>
                  <a:pt x="9185659" y="398"/>
                </a:lnTo>
                <a:lnTo>
                  <a:pt x="9339798" y="1591"/>
                </a:lnTo>
                <a:lnTo>
                  <a:pt x="9493634" y="3576"/>
                </a:lnTo>
                <a:lnTo>
                  <a:pt x="9647163" y="6349"/>
                </a:lnTo>
                <a:lnTo>
                  <a:pt x="9800381" y="9908"/>
                </a:lnTo>
                <a:lnTo>
                  <a:pt x="9953281" y="14250"/>
                </a:lnTo>
                <a:lnTo>
                  <a:pt x="10105860" y="19371"/>
                </a:lnTo>
                <a:lnTo>
                  <a:pt x="10258113" y="25268"/>
                </a:lnTo>
                <a:lnTo>
                  <a:pt x="10410034" y="31939"/>
                </a:lnTo>
                <a:lnTo>
                  <a:pt x="10561620" y="39380"/>
                </a:lnTo>
                <a:lnTo>
                  <a:pt x="10712865" y="47588"/>
                </a:lnTo>
                <a:lnTo>
                  <a:pt x="10863765" y="56561"/>
                </a:lnTo>
                <a:lnTo>
                  <a:pt x="11014314" y="66294"/>
                </a:lnTo>
                <a:lnTo>
                  <a:pt x="11164508" y="76786"/>
                </a:lnTo>
                <a:lnTo>
                  <a:pt x="11314342" y="88032"/>
                </a:lnTo>
                <a:lnTo>
                  <a:pt x="11463812" y="100031"/>
                </a:lnTo>
                <a:lnTo>
                  <a:pt x="11612912" y="112778"/>
                </a:lnTo>
                <a:lnTo>
                  <a:pt x="11761637" y="126271"/>
                </a:lnTo>
                <a:lnTo>
                  <a:pt x="11909984" y="140507"/>
                </a:lnTo>
                <a:lnTo>
                  <a:pt x="12057946" y="155483"/>
                </a:lnTo>
                <a:lnTo>
                  <a:pt x="12205520" y="171196"/>
                </a:lnTo>
                <a:lnTo>
                  <a:pt x="12352700" y="187642"/>
                </a:lnTo>
                <a:lnTo>
                  <a:pt x="12499482" y="204818"/>
                </a:lnTo>
                <a:lnTo>
                  <a:pt x="12645861" y="222722"/>
                </a:lnTo>
                <a:lnTo>
                  <a:pt x="12791832" y="241350"/>
                </a:lnTo>
                <a:lnTo>
                  <a:pt x="12937390" y="260700"/>
                </a:lnTo>
                <a:lnTo>
                  <a:pt x="13082531" y="280768"/>
                </a:lnTo>
                <a:lnTo>
                  <a:pt x="13227249" y="301552"/>
                </a:lnTo>
                <a:lnTo>
                  <a:pt x="13371540" y="323047"/>
                </a:lnTo>
                <a:lnTo>
                  <a:pt x="13515399" y="345252"/>
                </a:lnTo>
                <a:lnTo>
                  <a:pt x="13658821" y="368163"/>
                </a:lnTo>
                <a:lnTo>
                  <a:pt x="13801802" y="391776"/>
                </a:lnTo>
                <a:lnTo>
                  <a:pt x="13944337" y="416090"/>
                </a:lnTo>
                <a:lnTo>
                  <a:pt x="14086420" y="441101"/>
                </a:lnTo>
                <a:lnTo>
                  <a:pt x="14228047" y="466805"/>
                </a:lnTo>
                <a:lnTo>
                  <a:pt x="14369214" y="493201"/>
                </a:lnTo>
                <a:lnTo>
                  <a:pt x="14509915" y="520284"/>
                </a:lnTo>
                <a:lnTo>
                  <a:pt x="14650146" y="548051"/>
                </a:lnTo>
                <a:lnTo>
                  <a:pt x="14789901" y="576501"/>
                </a:lnTo>
                <a:lnTo>
                  <a:pt x="14929177" y="605629"/>
                </a:lnTo>
                <a:lnTo>
                  <a:pt x="15067967" y="635432"/>
                </a:lnTo>
                <a:lnTo>
                  <a:pt x="15206269" y="665908"/>
                </a:lnTo>
                <a:lnTo>
                  <a:pt x="15344075" y="697053"/>
                </a:lnTo>
                <a:lnTo>
                  <a:pt x="15481383" y="728865"/>
                </a:lnTo>
                <a:lnTo>
                  <a:pt x="15618186" y="761340"/>
                </a:lnTo>
                <a:lnTo>
                  <a:pt x="15754481" y="794475"/>
                </a:lnTo>
                <a:lnTo>
                  <a:pt x="15890262" y="828267"/>
                </a:lnTo>
                <a:lnTo>
                  <a:pt x="16025525" y="862713"/>
                </a:lnTo>
                <a:lnTo>
                  <a:pt x="16160265" y="897811"/>
                </a:lnTo>
                <a:lnTo>
                  <a:pt x="16294477" y="933556"/>
                </a:lnTo>
                <a:lnTo>
                  <a:pt x="16428155" y="969946"/>
                </a:lnTo>
                <a:lnTo>
                  <a:pt x="16561297" y="1006979"/>
                </a:lnTo>
                <a:lnTo>
                  <a:pt x="16693895" y="1044650"/>
                </a:lnTo>
                <a:lnTo>
                  <a:pt x="16825947" y="1082956"/>
                </a:lnTo>
                <a:lnTo>
                  <a:pt x="16957447" y="1121896"/>
                </a:lnTo>
                <a:lnTo>
                  <a:pt x="17088389" y="1161465"/>
                </a:lnTo>
                <a:lnTo>
                  <a:pt x="17218771" y="1201661"/>
                </a:lnTo>
                <a:lnTo>
                  <a:pt x="17348585" y="1242480"/>
                </a:lnTo>
                <a:lnTo>
                  <a:pt x="17477829" y="1283920"/>
                </a:lnTo>
                <a:lnTo>
                  <a:pt x="17606496" y="1325977"/>
                </a:lnTo>
                <a:lnTo>
                  <a:pt x="17734583" y="1368649"/>
                </a:lnTo>
                <a:lnTo>
                  <a:pt x="17862084" y="1411931"/>
                </a:lnTo>
                <a:lnTo>
                  <a:pt x="17988995" y="1455822"/>
                </a:lnTo>
                <a:lnTo>
                  <a:pt x="18062446" y="1481697"/>
                </a:lnTo>
              </a:path>
            </a:pathLst>
          </a:custGeom>
          <a:solidFill>
            <a:srgbClr val="FFFFFF">
              <a:lumMod val="95000"/>
              <a:alpha val="70000"/>
            </a:srgbClr>
          </a:solidFill>
          <a:ln w="19050">
            <a:solidFill>
              <a:srgbClr val="C8102E"/>
            </a:solidFill>
          </a:ln>
        </p:spPr>
        <p:txBody>
          <a:bodyPr wrap="square" lIns="0" tIns="0" rIns="0" bIns="0" rtlCol="0">
            <a:noAutofit/>
          </a:bodyPr>
          <a:lstStyle/>
          <a:p>
            <a:pPr defTabSz="616973">
              <a:defRPr/>
            </a:pPr>
            <a:endParaRPr sz="1215" kern="0" dirty="0">
              <a:solidFill>
                <a:srgbClr val="DDDDDD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4" name="文本框 64">
            <a:extLst>
              <a:ext uri="{FF2B5EF4-FFF2-40B4-BE49-F238E27FC236}">
                <a16:creationId xmlns:a16="http://schemas.microsoft.com/office/drawing/2014/main" id="{720FD6E9-3DD2-0F26-B248-9AD622C245DA}"/>
              </a:ext>
            </a:extLst>
          </p:cNvPr>
          <p:cNvSpPr txBox="1"/>
          <p:nvPr/>
        </p:nvSpPr>
        <p:spPr>
          <a:xfrm>
            <a:off x="835471" y="762264"/>
            <a:ext cx="10090199" cy="5702804"/>
          </a:xfrm>
          <a:prstGeom prst="rect">
            <a:avLst/>
          </a:prstGeom>
          <a:noFill/>
        </p:spPr>
        <p:txBody>
          <a:bodyPr spcFirstLastPara="1" wrap="square" lIns="0" tIns="0" rIns="0" bIns="0" numCol="1" rtlCol="0">
            <a:prstTxWarp prst="textArchUp">
              <a:avLst>
                <a:gd name="adj" fmla="val 12627612"/>
              </a:avLst>
            </a:prstTxWarp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dirty="0">
              <a:solidFill>
                <a:srgbClr val="1D1D1A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6" name="圆角矩形 3">
            <a:extLst>
              <a:ext uri="{FF2B5EF4-FFF2-40B4-BE49-F238E27FC236}">
                <a16:creationId xmlns:a16="http://schemas.microsoft.com/office/drawing/2014/main" id="{2A9B2194-1B88-8109-706F-2EBBE8126125}"/>
              </a:ext>
            </a:extLst>
          </p:cNvPr>
          <p:cNvSpPr/>
          <p:nvPr/>
        </p:nvSpPr>
        <p:spPr>
          <a:xfrm>
            <a:off x="1168164" y="2771354"/>
            <a:ext cx="9584771" cy="3446566"/>
          </a:xfrm>
          <a:prstGeom prst="roundRect">
            <a:avLst>
              <a:gd name="adj" fmla="val 0"/>
            </a:avLst>
          </a:prstGeom>
          <a:gradFill flip="none" rotWithShape="1">
            <a:gsLst>
              <a:gs pos="46000">
                <a:srgbClr val="C7000B">
                  <a:alpha val="0"/>
                </a:srgbClr>
              </a:gs>
              <a:gs pos="100000">
                <a:srgbClr val="C7000B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 w="12700" cap="flat" cmpd="sng" algn="ctr">
            <a:gradFill flip="none" rotWithShape="1">
              <a:gsLst>
                <a:gs pos="50000">
                  <a:srgbClr val="C7000B">
                    <a:alpha val="5000"/>
                  </a:srgbClr>
                </a:gs>
                <a:gs pos="0">
                  <a:srgbClr val="C7000B">
                    <a:alpha val="80000"/>
                  </a:srgbClr>
                </a:gs>
                <a:gs pos="100000">
                  <a:srgbClr val="C7000B">
                    <a:alpha val="8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 anchorCtr="1">
            <a:noAutofit/>
          </a:bodyPr>
          <a:lstStyle/>
          <a:p>
            <a:pPr algn="ctr" defTabSz="914471"/>
            <a:endParaRPr lang="zh-CN" altLang="en-US" sz="1200" kern="0" dirty="0">
              <a:solidFill>
                <a:srgbClr val="DDDDDD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cxnSp>
        <p:nvCxnSpPr>
          <p:cNvPr id="9" name="直接连接符 16">
            <a:extLst>
              <a:ext uri="{FF2B5EF4-FFF2-40B4-BE49-F238E27FC236}">
                <a16:creationId xmlns:a16="http://schemas.microsoft.com/office/drawing/2014/main" id="{98A5C6CD-0106-2701-8BF5-C6F328BBEC21}"/>
              </a:ext>
            </a:extLst>
          </p:cNvPr>
          <p:cNvCxnSpPr/>
          <p:nvPr/>
        </p:nvCxnSpPr>
        <p:spPr>
          <a:xfrm>
            <a:off x="7716247" y="3848480"/>
            <a:ext cx="0" cy="1429170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13" name="矩形 36">
            <a:extLst>
              <a:ext uri="{FF2B5EF4-FFF2-40B4-BE49-F238E27FC236}">
                <a16:creationId xmlns:a16="http://schemas.microsoft.com/office/drawing/2014/main" id="{72884862-BF0F-2CD5-EC0C-7EE5AE395A55}"/>
              </a:ext>
            </a:extLst>
          </p:cNvPr>
          <p:cNvSpPr/>
          <p:nvPr/>
        </p:nvSpPr>
        <p:spPr>
          <a:xfrm>
            <a:off x="1861850" y="2998971"/>
            <a:ext cx="1605473" cy="1846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sz="1400" b="1" dirty="0">
                <a:solidFill>
                  <a:srgbClr val="DDDDDD">
                    <a:lumMod val="10000"/>
                  </a:srgb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Herramientas</a:t>
            </a:r>
          </a:p>
        </p:txBody>
      </p:sp>
      <p:sp>
        <p:nvSpPr>
          <p:cNvPr id="14" name="矩形 37">
            <a:extLst>
              <a:ext uri="{FF2B5EF4-FFF2-40B4-BE49-F238E27FC236}">
                <a16:creationId xmlns:a16="http://schemas.microsoft.com/office/drawing/2014/main" id="{91A9C00E-C862-C3AD-F51C-8B49FCA764C7}"/>
              </a:ext>
            </a:extLst>
          </p:cNvPr>
          <p:cNvSpPr/>
          <p:nvPr/>
        </p:nvSpPr>
        <p:spPr>
          <a:xfrm>
            <a:off x="8535671" y="2998971"/>
            <a:ext cx="1494939" cy="1846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sz="1400" b="1" dirty="0">
                <a:solidFill>
                  <a:srgbClr val="DDDDDD">
                    <a:lumMod val="10000"/>
                  </a:srgb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Disrupción</a:t>
            </a:r>
          </a:p>
        </p:txBody>
      </p:sp>
      <p:sp>
        <p:nvSpPr>
          <p:cNvPr id="17" name="燕尾形 43">
            <a:extLst>
              <a:ext uri="{FF2B5EF4-FFF2-40B4-BE49-F238E27FC236}">
                <a16:creationId xmlns:a16="http://schemas.microsoft.com/office/drawing/2014/main" id="{5DD84856-920D-0656-5274-EEB9C60E659D}"/>
              </a:ext>
            </a:extLst>
          </p:cNvPr>
          <p:cNvSpPr>
            <a:spLocks noChangeAspect="1"/>
          </p:cNvSpPr>
          <p:nvPr/>
        </p:nvSpPr>
        <p:spPr>
          <a:xfrm>
            <a:off x="5773524" y="2642736"/>
            <a:ext cx="214094" cy="214562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14112"/>
            <a:endParaRPr lang="zh-CN" altLang="en-US" sz="1799">
              <a:solidFill>
                <a:srgbClr val="DDDDDD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8" name="燕尾形 45">
            <a:extLst>
              <a:ext uri="{FF2B5EF4-FFF2-40B4-BE49-F238E27FC236}">
                <a16:creationId xmlns:a16="http://schemas.microsoft.com/office/drawing/2014/main" id="{F44D1CFF-2935-9E04-7053-2BDA117533DE}"/>
              </a:ext>
            </a:extLst>
          </p:cNvPr>
          <p:cNvSpPr>
            <a:spLocks noChangeAspect="1"/>
          </p:cNvSpPr>
          <p:nvPr/>
        </p:nvSpPr>
        <p:spPr>
          <a:xfrm rot="16200000">
            <a:off x="1047769" y="4606832"/>
            <a:ext cx="214094" cy="214562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14112"/>
            <a:endParaRPr lang="zh-CN" altLang="en-US">
              <a:solidFill>
                <a:srgbClr val="DDDDDD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9" name="燕尾形 46">
            <a:extLst>
              <a:ext uri="{FF2B5EF4-FFF2-40B4-BE49-F238E27FC236}">
                <a16:creationId xmlns:a16="http://schemas.microsoft.com/office/drawing/2014/main" id="{5E08BC9A-267F-7A3F-7963-3866D48A89EB}"/>
              </a:ext>
            </a:extLst>
          </p:cNvPr>
          <p:cNvSpPr>
            <a:spLocks noChangeAspect="1"/>
          </p:cNvSpPr>
          <p:nvPr/>
        </p:nvSpPr>
        <p:spPr>
          <a:xfrm rot="10800000">
            <a:off x="5761829" y="6114552"/>
            <a:ext cx="214094" cy="214562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14112"/>
            <a:endParaRPr lang="zh-CN" altLang="en-US" sz="1799">
              <a:solidFill>
                <a:srgbClr val="DDDDDD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0" name="圆角矩形 50">
            <a:extLst>
              <a:ext uri="{FF2B5EF4-FFF2-40B4-BE49-F238E27FC236}">
                <a16:creationId xmlns:a16="http://schemas.microsoft.com/office/drawing/2014/main" id="{C08BA12F-20AC-24F1-2A8F-9BC50666E5B8}"/>
              </a:ext>
            </a:extLst>
          </p:cNvPr>
          <p:cNvSpPr/>
          <p:nvPr/>
        </p:nvSpPr>
        <p:spPr>
          <a:xfrm>
            <a:off x="7782235" y="6050001"/>
            <a:ext cx="1500905" cy="279114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9525" cap="flat" cmpd="sng" algn="ctr">
            <a:gradFill flip="none" rotWithShape="1">
              <a:gsLst>
                <a:gs pos="50000">
                  <a:srgbClr val="C7000B">
                    <a:alpha val="5000"/>
                  </a:srgbClr>
                </a:gs>
                <a:gs pos="0">
                  <a:srgbClr val="C7000B">
                    <a:alpha val="80000"/>
                  </a:srgbClr>
                </a:gs>
                <a:gs pos="100000">
                  <a:srgbClr val="C7000B">
                    <a:alpha val="80000"/>
                  </a:srgbClr>
                </a:gs>
              </a:gsLst>
              <a:lin ang="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 anchorCtr="1">
            <a:noAutofit/>
          </a:bodyPr>
          <a:lstStyle/>
          <a:p>
            <a:pPr algn="ctr" defTabSz="914471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+ </a:t>
            </a:r>
            <a:r>
              <a:rPr lang="es-AR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Inteligencia</a:t>
            </a:r>
          </a:p>
        </p:txBody>
      </p:sp>
      <p:sp>
        <p:nvSpPr>
          <p:cNvPr id="21" name="文本框 47">
            <a:extLst>
              <a:ext uri="{FF2B5EF4-FFF2-40B4-BE49-F238E27FC236}">
                <a16:creationId xmlns:a16="http://schemas.microsoft.com/office/drawing/2014/main" id="{24969EE1-B9D7-569F-5B53-9C67DEAD1C10}"/>
              </a:ext>
            </a:extLst>
          </p:cNvPr>
          <p:cNvSpPr txBox="1"/>
          <p:nvPr/>
        </p:nvSpPr>
        <p:spPr>
          <a:xfrm>
            <a:off x="1317782" y="3270214"/>
            <a:ext cx="2886649" cy="28443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112">
              <a:spcBef>
                <a:spcPts val="600"/>
              </a:spcBef>
            </a:pPr>
            <a:r>
              <a:rPr lang="es-AR" sz="1100" b="1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Para procesar, analizar y almacenar información digitalizada.</a:t>
            </a:r>
          </a:p>
          <a:p>
            <a:pPr algn="ctr" defTabSz="914112">
              <a:spcBef>
                <a:spcPts val="600"/>
              </a:spcBef>
            </a:pPr>
            <a:r>
              <a:rPr lang="es-AR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Dispositivos. </a:t>
            </a:r>
            <a:r>
              <a:rPr lang="es-AR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Computadoras, servidores, teléfonos móviles y tabletas.</a:t>
            </a:r>
          </a:p>
          <a:p>
            <a:pPr algn="ctr">
              <a:spcBef>
                <a:spcPts val="1200"/>
              </a:spcBef>
            </a:pPr>
            <a:r>
              <a:rPr lang="es-AR" sz="1100" b="1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Sistemas Digitales consolidados</a:t>
            </a:r>
            <a:br>
              <a:rPr lang="es-AR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</a:br>
            <a:r>
              <a:rPr lang="es-AR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Cloud Computing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Internet de las cosas (IoT)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Blockchain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Realidad Virtual y Aumentada, Metaverso. Computación cuántica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Impresión 3D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Robótica avanzada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Biología sintética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Energía renovable Nanotecnología</a:t>
            </a:r>
          </a:p>
          <a:p>
            <a:pPr algn="ctr" defTabSz="914112">
              <a:spcBef>
                <a:spcPts val="1200"/>
              </a:spcBef>
            </a:pPr>
            <a:endParaRPr lang="es-AR" sz="1100" dirty="0">
              <a:solidFill>
                <a:srgbClr val="DDDDDD">
                  <a:lumMod val="10000"/>
                </a:srgbClr>
              </a:solidFill>
              <a:latin typeface="Roboto Thin" panose="02000000000000000000" pitchFamily="2" charset="0"/>
              <a:ea typeface="Roboto Thin" panose="02000000000000000000" pitchFamily="2" charset="0"/>
              <a:cs typeface="Arial" panose="020B0604020202020204" pitchFamily="34" charset="0"/>
            </a:endParaRPr>
          </a:p>
          <a:p>
            <a:pPr algn="ctr" defTabSz="914112">
              <a:spcBef>
                <a:spcPts val="600"/>
              </a:spcBef>
            </a:pPr>
            <a:endParaRPr lang="es-AR" sz="1100" dirty="0">
              <a:solidFill>
                <a:srgbClr val="DDDDDD">
                  <a:lumMod val="10000"/>
                </a:srgbClr>
              </a:solidFill>
              <a:latin typeface="Roboto Thin" panose="02000000000000000000" pitchFamily="2" charset="0"/>
              <a:ea typeface="Roboto Thin" panose="02000000000000000000" pitchFamily="2" charset="0"/>
              <a:cs typeface="Arial" panose="020B0604020202020204" pitchFamily="34" charset="0"/>
              <a:sym typeface="微软雅黑" panose="020B0503020204020204" pitchFamily="34" charset="-122"/>
            </a:endParaRPr>
          </a:p>
          <a:p>
            <a:pPr algn="ctr" defTabSz="914112">
              <a:spcBef>
                <a:spcPts val="600"/>
              </a:spcBef>
            </a:pPr>
            <a:endParaRPr lang="es-AR" sz="1100" dirty="0">
              <a:solidFill>
                <a:srgbClr val="DDDDDD">
                  <a:lumMod val="10000"/>
                </a:srgbClr>
              </a:solidFill>
              <a:latin typeface="Roboto Thin" panose="02000000000000000000" pitchFamily="2" charset="0"/>
              <a:ea typeface="Roboto Thin" panose="02000000000000000000" pitchFamily="2" charset="0"/>
              <a:cs typeface="Arial" panose="020B0604020202020204" pitchFamily="34" charset="0"/>
              <a:sym typeface="微软雅黑" panose="020B0503020204020204" pitchFamily="34" charset="-122"/>
            </a:endParaRPr>
          </a:p>
          <a:p>
            <a:pPr algn="ctr" defTabSz="914112">
              <a:spcBef>
                <a:spcPts val="600"/>
              </a:spcBef>
            </a:pPr>
            <a:endParaRPr lang="es-AR" sz="1100" dirty="0">
              <a:solidFill>
                <a:srgbClr val="DDDDDD">
                  <a:lumMod val="10000"/>
                </a:srgbClr>
              </a:solidFill>
              <a:latin typeface="Roboto Thin" panose="02000000000000000000" pitchFamily="2" charset="0"/>
              <a:ea typeface="Roboto Thin" panose="02000000000000000000" pitchFamily="2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2" name="文本框 51">
            <a:extLst>
              <a:ext uri="{FF2B5EF4-FFF2-40B4-BE49-F238E27FC236}">
                <a16:creationId xmlns:a16="http://schemas.microsoft.com/office/drawing/2014/main" id="{351180F8-5711-4F18-D53D-244851169E1D}"/>
              </a:ext>
            </a:extLst>
          </p:cNvPr>
          <p:cNvSpPr txBox="1"/>
          <p:nvPr/>
        </p:nvSpPr>
        <p:spPr>
          <a:xfrm>
            <a:off x="8002145" y="3424494"/>
            <a:ext cx="2594989" cy="24022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 defTabSz="914112">
              <a:spcBef>
                <a:spcPts val="600"/>
              </a:spcBef>
              <a:defRPr sz="1000">
                <a:solidFill>
                  <a:srgbClr val="DDDDDD">
                    <a:lumMod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Bef>
                <a:spcPts val="1200"/>
              </a:spcBef>
            </a:pPr>
            <a:r>
              <a:rPr lang="es-AR" sz="1100" dirty="0">
                <a:latin typeface="Roboto Thin" panose="02000000000000000000" pitchFamily="2" charset="0"/>
                <a:ea typeface="Roboto Thin" panose="02000000000000000000" pitchFamily="2" charset="0"/>
                <a:sym typeface="微软雅黑" panose="020B0503020204020204" pitchFamily="34" charset="-122"/>
              </a:rPr>
              <a:t>Para cambiar los modelos de negocio.</a:t>
            </a:r>
          </a:p>
          <a:p>
            <a:pPr>
              <a:spcBef>
                <a:spcPts val="1200"/>
              </a:spcBef>
            </a:pPr>
            <a:r>
              <a:rPr lang="es-AR" sz="1100" dirty="0">
                <a:latin typeface="Roboto Thin" panose="02000000000000000000" pitchFamily="2" charset="0"/>
                <a:ea typeface="Roboto Thin" panose="02000000000000000000" pitchFamily="2" charset="0"/>
                <a:sym typeface="微软雅黑" panose="020B0503020204020204" pitchFamily="34" charset="-122"/>
              </a:rPr>
              <a:t>Para modificar nuestras tareas diarias.</a:t>
            </a:r>
          </a:p>
          <a:p>
            <a:pPr>
              <a:spcBef>
                <a:spcPts val="1200"/>
              </a:spcBef>
            </a:pPr>
            <a:r>
              <a:rPr lang="es-AR" sz="1100" dirty="0">
                <a:latin typeface="Roboto Thin" panose="02000000000000000000" pitchFamily="2" charset="0"/>
                <a:ea typeface="Roboto Thin" panose="02000000000000000000" pitchFamily="2" charset="0"/>
              </a:rPr>
              <a:t>Para cambiar el trabajo como lo conocemos.</a:t>
            </a:r>
          </a:p>
          <a:p>
            <a:pPr>
              <a:spcBef>
                <a:spcPts val="1200"/>
              </a:spcBef>
            </a:pPr>
            <a:r>
              <a:rPr lang="es-AR" sz="1100" dirty="0">
                <a:latin typeface="Roboto Thin" panose="02000000000000000000" pitchFamily="2" charset="0"/>
                <a:ea typeface="Roboto Thin" panose="02000000000000000000" pitchFamily="2" charset="0"/>
                <a:sym typeface="微软雅黑" panose="020B0503020204020204" pitchFamily="34" charset="-122"/>
              </a:rPr>
              <a:t>Para t</a:t>
            </a:r>
            <a:r>
              <a:rPr lang="es-AR" sz="1100" dirty="0">
                <a:latin typeface="Roboto Thin" panose="02000000000000000000" pitchFamily="2" charset="0"/>
                <a:ea typeface="Roboto Thin" panose="02000000000000000000" pitchFamily="2" charset="0"/>
              </a:rPr>
              <a:t>ransformar las industrias.</a:t>
            </a:r>
          </a:p>
          <a:p>
            <a:pPr>
              <a:spcBef>
                <a:spcPts val="1200"/>
              </a:spcBef>
            </a:pPr>
            <a:r>
              <a:rPr lang="es-ES" sz="1100" dirty="0">
                <a:latin typeface="Roboto Thin" panose="02000000000000000000" pitchFamily="2" charset="0"/>
                <a:ea typeface="Roboto Thin" panose="02000000000000000000" pitchFamily="2" charset="0"/>
              </a:rPr>
              <a:t>Para cambiar la forma en la que nos relacionamos socialmente.</a:t>
            </a:r>
          </a:p>
          <a:p>
            <a:pPr>
              <a:spcBef>
                <a:spcPts val="1200"/>
              </a:spcBef>
            </a:pPr>
            <a:r>
              <a:rPr lang="es-ES" sz="1100" b="1" dirty="0">
                <a:latin typeface="Roboto Thin" panose="02000000000000000000" pitchFamily="2" charset="0"/>
                <a:ea typeface="Roboto Thin" panose="02000000000000000000" pitchFamily="2" charset="0"/>
              </a:rPr>
              <a:t>Para modificar nuestro entorno físico y virtual</a:t>
            </a:r>
            <a:r>
              <a:rPr lang="es-ES" sz="1100" dirty="0">
                <a:latin typeface="Roboto Thin" panose="02000000000000000000" pitchFamily="2" charset="0"/>
                <a:ea typeface="Roboto Thin" panose="02000000000000000000" pitchFamily="2" charset="0"/>
              </a:rPr>
              <a:t>.</a:t>
            </a:r>
          </a:p>
          <a:p>
            <a:pPr>
              <a:spcBef>
                <a:spcPts val="1200"/>
              </a:spcBef>
            </a:pPr>
            <a:endParaRPr lang="es-ES" sz="1100" dirty="0">
              <a:latin typeface="Roboto Thin" panose="02000000000000000000" pitchFamily="2" charset="0"/>
              <a:ea typeface="Roboto Thin" panose="02000000000000000000" pitchFamily="2" charset="0"/>
              <a:sym typeface="微软雅黑" panose="020B0503020204020204" pitchFamily="34" charset="-122"/>
            </a:endParaRPr>
          </a:p>
        </p:txBody>
      </p:sp>
      <p:cxnSp>
        <p:nvCxnSpPr>
          <p:cNvPr id="24" name="直接连接符 42">
            <a:extLst>
              <a:ext uri="{FF2B5EF4-FFF2-40B4-BE49-F238E27FC236}">
                <a16:creationId xmlns:a16="http://schemas.microsoft.com/office/drawing/2014/main" id="{96EAF7D5-20C6-8BF9-6DE5-83DE619A7639}"/>
              </a:ext>
            </a:extLst>
          </p:cNvPr>
          <p:cNvCxnSpPr/>
          <p:nvPr/>
        </p:nvCxnSpPr>
        <p:spPr>
          <a:xfrm>
            <a:off x="4480437" y="3848480"/>
            <a:ext cx="0" cy="1429170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5" name="文本框 52">
            <a:extLst>
              <a:ext uri="{FF2B5EF4-FFF2-40B4-BE49-F238E27FC236}">
                <a16:creationId xmlns:a16="http://schemas.microsoft.com/office/drawing/2014/main" id="{C33F82ED-44FE-E8F4-7DE7-AF150F37CA32}"/>
              </a:ext>
            </a:extLst>
          </p:cNvPr>
          <p:cNvSpPr txBox="1"/>
          <p:nvPr/>
        </p:nvSpPr>
        <p:spPr>
          <a:xfrm>
            <a:off x="4793423" y="3316302"/>
            <a:ext cx="2619730" cy="26186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112">
              <a:spcBef>
                <a:spcPts val="600"/>
              </a:spcBef>
            </a:pPr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Para generar impacto social, político y económico en nuestras vidas.</a:t>
            </a:r>
          </a:p>
          <a:p>
            <a:pPr algn="ctr" defTabSz="914112">
              <a:spcBef>
                <a:spcPts val="1200"/>
              </a:spcBef>
            </a:pPr>
            <a:r>
              <a:rPr lang="es-AR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Para comunicarnos, tomar decisiones, hacer negocios, entretenernos y emocionarnos.</a:t>
            </a:r>
          </a:p>
          <a:p>
            <a:pPr algn="ctr" defTabSz="914112">
              <a:spcBef>
                <a:spcPts val="600"/>
              </a:spcBef>
            </a:pPr>
            <a:r>
              <a:rPr lang="es-AR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Instagram, You Tube, Google, Spotify, Mercado Libre, Waze, ChatGPT, Netflix, WhatsApp, Siri, etc.</a:t>
            </a:r>
          </a:p>
          <a:p>
            <a:pPr algn="ctr">
              <a:spcBef>
                <a:spcPts val="1200"/>
              </a:spcBef>
            </a:pPr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Aumentar la eficiencia.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Mejorar la calidad.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Incrementar la competitividad.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Mejorar la experiencia del usuario.</a:t>
            </a:r>
          </a:p>
          <a:p>
            <a:pPr algn="ctr"/>
            <a:r>
              <a:rPr lang="es-ES" sz="1100" dirty="0">
                <a:solidFill>
                  <a:srgbClr val="DDDDDD">
                    <a:lumMod val="10000"/>
                  </a:srgbClr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Fomentar la colaboración.</a:t>
            </a:r>
          </a:p>
          <a:p>
            <a:pPr algn="ctr" defTabSz="914112">
              <a:spcBef>
                <a:spcPts val="600"/>
              </a:spcBef>
            </a:pPr>
            <a:endParaRPr lang="es-AR" sz="1100" dirty="0">
              <a:solidFill>
                <a:srgbClr val="DDDDDD">
                  <a:lumMod val="10000"/>
                </a:srgbClr>
              </a:solidFill>
              <a:latin typeface="Roboto Thin" panose="02000000000000000000" pitchFamily="2" charset="0"/>
              <a:ea typeface="Roboto Thin" panose="02000000000000000000" pitchFamily="2" charset="0"/>
              <a:cs typeface="Arial" panose="020B0604020202020204" pitchFamily="34" charset="0"/>
            </a:endParaRPr>
          </a:p>
          <a:p>
            <a:pPr algn="ctr" defTabSz="914112">
              <a:spcBef>
                <a:spcPts val="1200"/>
              </a:spcBef>
            </a:pPr>
            <a:endParaRPr lang="es-AR" sz="1100" dirty="0">
              <a:solidFill>
                <a:srgbClr val="DDDDDD">
                  <a:lumMod val="10000"/>
                </a:srgbClr>
              </a:solidFill>
              <a:latin typeface="Roboto Thin" panose="02000000000000000000" pitchFamily="2" charset="0"/>
              <a:ea typeface="Roboto Thin" panose="02000000000000000000" pitchFamily="2" charset="0"/>
              <a:cs typeface="Arial" panose="020B0604020202020204" pitchFamily="34" charset="0"/>
            </a:endParaRPr>
          </a:p>
          <a:p>
            <a:pPr algn="ctr" defTabSz="914112">
              <a:spcBef>
                <a:spcPts val="1200"/>
              </a:spcBef>
            </a:pPr>
            <a:endParaRPr lang="es-AR" sz="1100" dirty="0">
              <a:solidFill>
                <a:srgbClr val="DDDDDD">
                  <a:lumMod val="10000"/>
                </a:srgbClr>
              </a:solidFill>
              <a:latin typeface="Roboto Thin" panose="02000000000000000000" pitchFamily="2" charset="0"/>
              <a:ea typeface="Roboto Thin" panose="02000000000000000000" pitchFamily="2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9" name="矩形 59">
            <a:extLst>
              <a:ext uri="{FF2B5EF4-FFF2-40B4-BE49-F238E27FC236}">
                <a16:creationId xmlns:a16="http://schemas.microsoft.com/office/drawing/2014/main" id="{A16FD8D0-E7D8-DC55-3228-FE89514DA724}"/>
              </a:ext>
            </a:extLst>
          </p:cNvPr>
          <p:cNvSpPr/>
          <p:nvPr/>
        </p:nvSpPr>
        <p:spPr>
          <a:xfrm>
            <a:off x="5360384" y="3004220"/>
            <a:ext cx="1615169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sz="1400" b="1" dirty="0">
                <a:solidFill>
                  <a:srgbClr val="DDDDDD">
                    <a:lumMod val="10000"/>
                  </a:srgb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Un medio</a:t>
            </a:r>
          </a:p>
        </p:txBody>
      </p:sp>
      <p:sp>
        <p:nvSpPr>
          <p:cNvPr id="31" name="燕尾形 45">
            <a:extLst>
              <a:ext uri="{FF2B5EF4-FFF2-40B4-BE49-F238E27FC236}">
                <a16:creationId xmlns:a16="http://schemas.microsoft.com/office/drawing/2014/main" id="{8B2D14AA-D3DB-2B84-169B-2B340BD78EE0}"/>
              </a:ext>
            </a:extLst>
          </p:cNvPr>
          <p:cNvSpPr>
            <a:spLocks noChangeAspect="1"/>
          </p:cNvSpPr>
          <p:nvPr/>
        </p:nvSpPr>
        <p:spPr>
          <a:xfrm rot="5400000">
            <a:off x="10654355" y="4608838"/>
            <a:ext cx="214094" cy="214562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914112"/>
            <a:endParaRPr lang="zh-CN" altLang="en-US">
              <a:solidFill>
                <a:srgbClr val="DDDDDD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F0B44B-3D4C-C992-42F7-87243A3DC281}"/>
              </a:ext>
            </a:extLst>
          </p:cNvPr>
          <p:cNvSpPr txBox="1"/>
          <p:nvPr/>
        </p:nvSpPr>
        <p:spPr>
          <a:xfrm>
            <a:off x="4950899" y="640080"/>
            <a:ext cx="201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800" dirty="0">
                <a:solidFill>
                  <a:srgbClr val="C7000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Tecnología</a:t>
            </a:r>
          </a:p>
        </p:txBody>
      </p:sp>
    </p:spTree>
    <p:extLst>
      <p:ext uri="{BB962C8B-B14F-4D97-AF65-F5344CB8AC3E}">
        <p14:creationId xmlns:p14="http://schemas.microsoft.com/office/powerpoint/2010/main" val="103392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 animBg="1"/>
      <p:bldP spid="21" grpId="0"/>
      <p:bldP spid="22" grpId="0"/>
      <p:bldP spid="25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91160C5-5BAD-27E9-1DA0-F4942044A9BC}"/>
              </a:ext>
            </a:extLst>
          </p:cNvPr>
          <p:cNvSpPr txBox="1"/>
          <p:nvPr/>
        </p:nvSpPr>
        <p:spPr>
          <a:xfrm>
            <a:off x="452219" y="894798"/>
            <a:ext cx="11544387" cy="522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1600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</a:t>
            </a:r>
            <a:r>
              <a:rPr lang="es-ES" sz="1600" i="0" dirty="0">
                <a:solidFill>
                  <a:srgbClr val="37415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rincipales ventajas de las tecnologías: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Automatización: Permiten realizar tareas de forma más rápida y precisa, reduciendo la intervención humana.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Acceso a la información: Facilitan el acceso a grandes cantidades de información y conocimiento en tiempo real.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Comunicación: Mejoran la comunicación a distancia, permitiendo conectarse con personas de todo el mundo.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Eficiencia y productividad: Optimizan procesos y aumentan la eficiencia, lo que conduce a una mayor productividad.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b="0" i="0" dirty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Innovación: Proporcionan herramientas para la creación y desarrollo de nuevas soluciones y productos.</a:t>
            </a:r>
          </a:p>
          <a:p>
            <a:pPr algn="l"/>
            <a:endParaRPr lang="es-ES" sz="1600" b="0" i="0" dirty="0">
              <a:solidFill>
                <a:srgbClr val="374151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s-ES" sz="16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Sin embargo, también existen desventajas asociadas con las tecnologías, como: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Dependencia: La dependencia excesiva de la tecnología puede llevar a la pérdida de habilidades manuales o sociales.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Brecha digital: No todas las personas tienen acceso equitativo a las tecnologías, lo que puede generar una brecha entre diferentes grupos sociales.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Privacidad y seguridad: El uso de tecnologías digitales puede plantear preocupaciones sobre la privacidad de los datos y la seguridad cibernética.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Impacto ambiental: La producción y disposición de tecnologías pueden generar residuos y contribuir al cambio climático.</a:t>
            </a:r>
          </a:p>
          <a:p>
            <a:pPr marL="800140" lvl="1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Desempleo tecnológico: La automatización y la adopción de tecnologías emergentes como la IA pueden reemplazar ciertos puestos de trabajo, lo que puede tener implicaciones sociales y económicas.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1522E3-B8BB-C6A6-9225-0D3F7BD98C3E}"/>
              </a:ext>
            </a:extLst>
          </p:cNvPr>
          <p:cNvSpPr txBox="1"/>
          <p:nvPr/>
        </p:nvSpPr>
        <p:spPr>
          <a:xfrm>
            <a:off x="0" y="31979"/>
            <a:ext cx="6969034" cy="76926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algn="l"/>
            <a:r>
              <a:rPr lang="es-ES" sz="2400" dirty="0">
                <a:solidFill>
                  <a:srgbClr val="0062AC"/>
                </a:solidFill>
              </a:rPr>
              <a:t>Ventajas y desventajas de las tecnologías</a:t>
            </a:r>
          </a:p>
        </p:txBody>
      </p:sp>
    </p:spTree>
    <p:extLst>
      <p:ext uri="{BB962C8B-B14F-4D97-AF65-F5344CB8AC3E}">
        <p14:creationId xmlns:p14="http://schemas.microsoft.com/office/powerpoint/2010/main" val="44712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nécdotas y curiosidades de Steve Jobs | Computer Hoy">
            <a:extLst>
              <a:ext uri="{FF2B5EF4-FFF2-40B4-BE49-F238E27FC236}">
                <a16:creationId xmlns:a16="http://schemas.microsoft.com/office/drawing/2014/main" id="{5A41B9F9-79AF-0218-3AF4-251869529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2877"/>
            <a:ext cx="12158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1423E35-F54B-82D4-553B-2BD040CBA789}"/>
              </a:ext>
            </a:extLst>
          </p:cNvPr>
          <p:cNvSpPr txBox="1"/>
          <p:nvPr/>
        </p:nvSpPr>
        <p:spPr>
          <a:xfrm>
            <a:off x="7830031" y="2715820"/>
            <a:ext cx="4114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b="0" i="0">
                <a:solidFill>
                  <a:schemeClr val="tx2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s-ES" sz="1800" dirty="0"/>
              <a:t>"La tecnología se convierte en arte cuando desaparece. Cuando se vuelve tan intuitiva y fácil de usar que se convierte en una extensión natural de nosotros mismos".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15BDC00-707E-A50E-F4B2-BCF92C81CB26}"/>
              </a:ext>
            </a:extLst>
          </p:cNvPr>
          <p:cNvSpPr txBox="1"/>
          <p:nvPr/>
        </p:nvSpPr>
        <p:spPr>
          <a:xfrm>
            <a:off x="10341824" y="5196006"/>
            <a:ext cx="217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0" i="0" dirty="0">
                <a:solidFill>
                  <a:schemeClr val="tx2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Por Steve Jobs</a:t>
            </a:r>
            <a:endParaRPr lang="es-ES" dirty="0">
              <a:solidFill>
                <a:schemeClr val="tx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F9C7F63-86E7-4187-D966-619DCF601172}"/>
              </a:ext>
            </a:extLst>
          </p:cNvPr>
          <p:cNvSpPr txBox="1"/>
          <p:nvPr/>
        </p:nvSpPr>
        <p:spPr>
          <a:xfrm>
            <a:off x="5854416" y="327967"/>
            <a:ext cx="48341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0" i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r>
              <a:rPr lang="es-ES" sz="1800" dirty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"La tecnología es simplemente una herramienta, que en manos equivocadas puede ser perjudicial, pero en las manos correctas puede ser transformadora".</a:t>
            </a:r>
          </a:p>
        </p:txBody>
      </p:sp>
    </p:spTree>
    <p:extLst>
      <p:ext uri="{BB962C8B-B14F-4D97-AF65-F5344CB8AC3E}">
        <p14:creationId xmlns:p14="http://schemas.microsoft.com/office/powerpoint/2010/main" val="397108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eritacom - ¿Qué es la Industria 4.0? y en qué me puede ayudar">
            <a:extLst>
              <a:ext uri="{FF2B5EF4-FFF2-40B4-BE49-F238E27FC236}">
                <a16:creationId xmlns:a16="http://schemas.microsoft.com/office/drawing/2014/main" id="{AD9A96C1-79AC-A78A-275A-3BBC6A2D8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9" y="1225910"/>
            <a:ext cx="12198372" cy="487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52FD36C-DF39-7460-AC5A-BAD79903ECAD}"/>
              </a:ext>
            </a:extLst>
          </p:cNvPr>
          <p:cNvSpPr/>
          <p:nvPr/>
        </p:nvSpPr>
        <p:spPr>
          <a:xfrm>
            <a:off x="1" y="130924"/>
            <a:ext cx="4749800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8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Evolución de las tecnologías</a:t>
            </a:r>
          </a:p>
        </p:txBody>
      </p:sp>
      <p:cxnSp>
        <p:nvCxnSpPr>
          <p:cNvPr id="6" name="直接连接符 49">
            <a:extLst>
              <a:ext uri="{FF2B5EF4-FFF2-40B4-BE49-F238E27FC236}">
                <a16:creationId xmlns:a16="http://schemas.microsoft.com/office/drawing/2014/main" id="{741E4247-9D85-670F-7A15-7A75A756D64F}"/>
              </a:ext>
            </a:extLst>
          </p:cNvPr>
          <p:cNvCxnSpPr>
            <a:cxnSpLocks/>
          </p:cNvCxnSpPr>
          <p:nvPr/>
        </p:nvCxnSpPr>
        <p:spPr>
          <a:xfrm>
            <a:off x="136396" y="828411"/>
            <a:ext cx="5007104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83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a podes inscribirte para el próximo año en la Universidad de Buenos Aires  – La Chacrita Online">
            <a:extLst>
              <a:ext uri="{FF2B5EF4-FFF2-40B4-BE49-F238E27FC236}">
                <a16:creationId xmlns:a16="http://schemas.microsoft.com/office/drawing/2014/main" id="{46D3C7CD-860B-F2F2-2ADC-E6AFB2200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2647" y="6420106"/>
            <a:ext cx="1006795" cy="3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7">
            <a:extLst>
              <a:ext uri="{FF2B5EF4-FFF2-40B4-BE49-F238E27FC236}">
                <a16:creationId xmlns:a16="http://schemas.microsoft.com/office/drawing/2014/main" id="{17081206-BF20-9408-001C-93AF84A775BC}"/>
              </a:ext>
            </a:extLst>
          </p:cNvPr>
          <p:cNvSpPr/>
          <p:nvPr/>
        </p:nvSpPr>
        <p:spPr>
          <a:xfrm>
            <a:off x="117321" y="6585123"/>
            <a:ext cx="1324928" cy="16979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8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13 | Sistemas Digitales.</a:t>
            </a:r>
            <a:endParaRPr kumimoji="1" lang="en-US" sz="8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074" name="Picture 2" descr="Industria 4.0 - Cluster IDiA, innovación colaborativa entre empresas ...">
            <a:extLst>
              <a:ext uri="{FF2B5EF4-FFF2-40B4-BE49-F238E27FC236}">
                <a16:creationId xmlns:a16="http://schemas.microsoft.com/office/drawing/2014/main" id="{B107FC9F-41F5-ABED-630B-5BB83FC7D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6763" cy="692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49">
            <a:extLst>
              <a:ext uri="{FF2B5EF4-FFF2-40B4-BE49-F238E27FC236}">
                <a16:creationId xmlns:a16="http://schemas.microsoft.com/office/drawing/2014/main" id="{A94AA69F-74E4-7194-A72A-16FE6BBC8752}"/>
              </a:ext>
            </a:extLst>
          </p:cNvPr>
          <p:cNvCxnSpPr>
            <a:cxnSpLocks/>
          </p:cNvCxnSpPr>
          <p:nvPr/>
        </p:nvCxnSpPr>
        <p:spPr>
          <a:xfrm>
            <a:off x="442905" y="567004"/>
            <a:ext cx="5655476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EAB653A-0E2E-BBE0-BD07-9D476690EF99}"/>
              </a:ext>
            </a:extLst>
          </p:cNvPr>
          <p:cNvSpPr txBox="1"/>
          <p:nvPr/>
        </p:nvSpPr>
        <p:spPr>
          <a:xfrm>
            <a:off x="-22420" y="6371974"/>
            <a:ext cx="862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1760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644B2B-0EAF-68B9-99BF-415FFA18AF7B}"/>
              </a:ext>
            </a:extLst>
          </p:cNvPr>
          <p:cNvSpPr txBox="1"/>
          <p:nvPr/>
        </p:nvSpPr>
        <p:spPr>
          <a:xfrm>
            <a:off x="2934146" y="6343282"/>
            <a:ext cx="685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1840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F1B9CB-423A-C435-8380-7A4FA371AAA5}"/>
              </a:ext>
            </a:extLst>
          </p:cNvPr>
          <p:cNvSpPr txBox="1"/>
          <p:nvPr/>
        </p:nvSpPr>
        <p:spPr>
          <a:xfrm>
            <a:off x="5877242" y="6331564"/>
            <a:ext cx="676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1914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B98DFE-4DB3-50BC-4829-9548E63E9697}"/>
              </a:ext>
            </a:extLst>
          </p:cNvPr>
          <p:cNvSpPr txBox="1"/>
          <p:nvPr/>
        </p:nvSpPr>
        <p:spPr>
          <a:xfrm>
            <a:off x="8098976" y="6357655"/>
            <a:ext cx="676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1990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010FA7-C1DE-1700-E8C7-718B9C355E78}"/>
              </a:ext>
            </a:extLst>
          </p:cNvPr>
          <p:cNvSpPr txBox="1"/>
          <p:nvPr/>
        </p:nvSpPr>
        <p:spPr>
          <a:xfrm>
            <a:off x="2953682" y="6601030"/>
            <a:ext cx="104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80 años</a:t>
            </a:r>
            <a:endParaRPr lang="es-AR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6BCCD74-0195-6D12-261E-15D1B202884D}"/>
              </a:ext>
            </a:extLst>
          </p:cNvPr>
          <p:cNvSpPr txBox="1"/>
          <p:nvPr/>
        </p:nvSpPr>
        <p:spPr>
          <a:xfrm>
            <a:off x="5885074" y="6559769"/>
            <a:ext cx="832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74 años</a:t>
            </a:r>
            <a:endParaRPr lang="es-AR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08F6D2F-3FEB-365D-D41B-7336A132C36F}"/>
              </a:ext>
            </a:extLst>
          </p:cNvPr>
          <p:cNvSpPr txBox="1"/>
          <p:nvPr/>
        </p:nvSpPr>
        <p:spPr>
          <a:xfrm>
            <a:off x="8098538" y="6546363"/>
            <a:ext cx="832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55 años</a:t>
            </a:r>
            <a:endParaRPr lang="es-AR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5E17990-81F2-0854-0BFD-98DE6DD3EC46}"/>
              </a:ext>
            </a:extLst>
          </p:cNvPr>
          <p:cNvSpPr txBox="1"/>
          <p:nvPr/>
        </p:nvSpPr>
        <p:spPr>
          <a:xfrm>
            <a:off x="9798984" y="6343282"/>
            <a:ext cx="676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2023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B81E495-B35D-C01D-D71F-5609A4667600}"/>
              </a:ext>
            </a:extLst>
          </p:cNvPr>
          <p:cNvSpPr txBox="1"/>
          <p:nvPr/>
        </p:nvSpPr>
        <p:spPr>
          <a:xfrm>
            <a:off x="10375051" y="6343487"/>
            <a:ext cx="832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33 años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6328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>
            <a:extLst>
              <a:ext uri="{FF2B5EF4-FFF2-40B4-BE49-F238E27FC236}">
                <a16:creationId xmlns:a16="http://schemas.microsoft.com/office/drawing/2014/main" id="{95B6210F-EE5A-95DA-B75E-2618E9F149CE}"/>
              </a:ext>
            </a:extLst>
          </p:cNvPr>
          <p:cNvSpPr/>
          <p:nvPr/>
        </p:nvSpPr>
        <p:spPr>
          <a:xfrm>
            <a:off x="0" y="0"/>
            <a:ext cx="7117237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4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Velocidad de la Transformación Digital</a:t>
            </a:r>
          </a:p>
        </p:txBody>
      </p:sp>
      <p:pic>
        <p:nvPicPr>
          <p:cNvPr id="7" name="Picture 2" descr="Conoce las 10 grandes empresas que quebraron o pasaron al olvido por dejar  de ser innovadoras">
            <a:extLst>
              <a:ext uri="{FF2B5EF4-FFF2-40B4-BE49-F238E27FC236}">
                <a16:creationId xmlns:a16="http://schemas.microsoft.com/office/drawing/2014/main" id="{456901F4-3715-E0AD-E723-3D8E76FCD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32" y="2307664"/>
            <a:ext cx="3983591" cy="2242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C49FA0-820C-CA70-094A-710C29B04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755" y="1747672"/>
            <a:ext cx="6956274" cy="3362656"/>
          </a:xfrm>
          <a:prstGeom prst="rect">
            <a:avLst/>
          </a:prstGeom>
        </p:spPr>
      </p:pic>
      <p:cxnSp>
        <p:nvCxnSpPr>
          <p:cNvPr id="10" name="直接连接符 49">
            <a:extLst>
              <a:ext uri="{FF2B5EF4-FFF2-40B4-BE49-F238E27FC236}">
                <a16:creationId xmlns:a16="http://schemas.microsoft.com/office/drawing/2014/main" id="{4D2A7A25-81C8-9B80-A3F9-EB6672450217}"/>
              </a:ext>
            </a:extLst>
          </p:cNvPr>
          <p:cNvCxnSpPr>
            <a:cxnSpLocks/>
          </p:cNvCxnSpPr>
          <p:nvPr/>
        </p:nvCxnSpPr>
        <p:spPr>
          <a:xfrm>
            <a:off x="117321" y="700376"/>
            <a:ext cx="6330613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768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How the Biggest Tech Companies Have Changed in Size Over 23 Years">
            <a:hlinkClick r:id="" action="ppaction://media"/>
            <a:extLst>
              <a:ext uri="{FF2B5EF4-FFF2-40B4-BE49-F238E27FC236}">
                <a16:creationId xmlns:a16="http://schemas.microsoft.com/office/drawing/2014/main" id="{34E3C39B-A4CC-EC83-2B9F-E0786A9147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28800" y="0"/>
            <a:ext cx="8385243" cy="69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2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439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1950249" y="2860278"/>
            <a:ext cx="79303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Son desarrollos y tecnologías que aprovechan el poder de la digitalización y las tecnologías de la información para impulsar la cuarta revolución industrial. </a:t>
            </a:r>
            <a:b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Estas tendencias se agrupan en tres grandes categorías: </a:t>
            </a:r>
            <a:b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2400" b="1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Físicas, Digitales y Biológicas</a:t>
            </a:r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, </a:t>
            </a:r>
            <a:b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y están muy interrelacionadas entre sí.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95B6210F-EE5A-95DA-B75E-2618E9F149CE}"/>
              </a:ext>
            </a:extLst>
          </p:cNvPr>
          <p:cNvSpPr/>
          <p:nvPr/>
        </p:nvSpPr>
        <p:spPr>
          <a:xfrm>
            <a:off x="1357582" y="263469"/>
            <a:ext cx="8639161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8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¿Cuáles son las </a:t>
            </a:r>
            <a:r>
              <a:rPr kumimoji="1" lang="es-ES" sz="2800" dirty="0" err="1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Megatendencias</a:t>
            </a:r>
            <a:r>
              <a:rPr kumimoji="1" lang="es-ES" sz="28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C017B6-CD7D-BA4A-BF3C-FC783EA9217F}"/>
              </a:ext>
            </a:extLst>
          </p:cNvPr>
          <p:cNvSpPr txBox="1"/>
          <p:nvPr/>
        </p:nvSpPr>
        <p:spPr>
          <a:xfrm>
            <a:off x="779785" y="1699572"/>
            <a:ext cx="111222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Según Klaus Schwab en su libro “La cuarta revolución industrial”, expresa que existen tres impulsores que cambiarán la industria en los próximos años.</a:t>
            </a:r>
          </a:p>
        </p:txBody>
      </p:sp>
      <p:pic>
        <p:nvPicPr>
          <p:cNvPr id="4" name="Picture 14" descr="Gobierno y transformacion digital – OLATI">
            <a:extLst>
              <a:ext uri="{FF2B5EF4-FFF2-40B4-BE49-F238E27FC236}">
                <a16:creationId xmlns:a16="http://schemas.microsoft.com/office/drawing/2014/main" id="{5D8B9C87-951D-E8CA-E1E2-A9458CE1D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55" y="150874"/>
            <a:ext cx="1882588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72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>
            <a:extLst>
              <a:ext uri="{FF2B5EF4-FFF2-40B4-BE49-F238E27FC236}">
                <a16:creationId xmlns:a16="http://schemas.microsoft.com/office/drawing/2014/main" id="{17081206-BF20-9408-001C-93AF84A775BC}"/>
              </a:ext>
            </a:extLst>
          </p:cNvPr>
          <p:cNvSpPr/>
          <p:nvPr/>
        </p:nvSpPr>
        <p:spPr>
          <a:xfrm>
            <a:off x="117321" y="6585123"/>
            <a:ext cx="1324928" cy="16979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8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16 | Sistemas Digitales.</a:t>
            </a:r>
            <a:endParaRPr kumimoji="1" lang="en-US" sz="8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95B6210F-EE5A-95DA-B75E-2618E9F149CE}"/>
              </a:ext>
            </a:extLst>
          </p:cNvPr>
          <p:cNvSpPr/>
          <p:nvPr/>
        </p:nvSpPr>
        <p:spPr>
          <a:xfrm>
            <a:off x="1603115" y="0"/>
            <a:ext cx="8639161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4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¿Cuál es el impulsor Físico?</a:t>
            </a:r>
          </a:p>
        </p:txBody>
      </p:sp>
      <p:pic>
        <p:nvPicPr>
          <p:cNvPr id="9218" name="Picture 2" descr="¿También habrá camiones autónomos para todos?">
            <a:extLst>
              <a:ext uri="{FF2B5EF4-FFF2-40B4-BE49-F238E27FC236}">
                <a16:creationId xmlns:a16="http://schemas.microsoft.com/office/drawing/2014/main" id="{EE09249D-CB85-92F5-B5C0-19B2CA68A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69" y="1172676"/>
            <a:ext cx="3092795" cy="170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36">
            <a:extLst>
              <a:ext uri="{FF2B5EF4-FFF2-40B4-BE49-F238E27FC236}">
                <a16:creationId xmlns:a16="http://schemas.microsoft.com/office/drawing/2014/main" id="{0C4C03A6-6904-4799-B7C7-F88F37F95CA3}"/>
              </a:ext>
            </a:extLst>
          </p:cNvPr>
          <p:cNvSpPr/>
          <p:nvPr/>
        </p:nvSpPr>
        <p:spPr>
          <a:xfrm>
            <a:off x="4944280" y="732228"/>
            <a:ext cx="2308201" cy="2403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Vehículos autónomos</a:t>
            </a:r>
          </a:p>
        </p:txBody>
      </p:sp>
      <p:cxnSp>
        <p:nvCxnSpPr>
          <p:cNvPr id="18" name="直接连接符 42">
            <a:extLst>
              <a:ext uri="{FF2B5EF4-FFF2-40B4-BE49-F238E27FC236}">
                <a16:creationId xmlns:a16="http://schemas.microsoft.com/office/drawing/2014/main" id="{D6C742CA-87BA-582B-1FAC-C0F57CDAC416}"/>
              </a:ext>
            </a:extLst>
          </p:cNvPr>
          <p:cNvCxnSpPr>
            <a:cxnSpLocks/>
          </p:cNvCxnSpPr>
          <p:nvPr/>
        </p:nvCxnSpPr>
        <p:spPr>
          <a:xfrm>
            <a:off x="3871672" y="1909148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pic>
        <p:nvPicPr>
          <p:cNvPr id="27" name="Imagen 26" descr="Coche aparcado en la calle&#10;&#10;Descripción generada automáticamente">
            <a:extLst>
              <a:ext uri="{FF2B5EF4-FFF2-40B4-BE49-F238E27FC236}">
                <a16:creationId xmlns:a16="http://schemas.microsoft.com/office/drawing/2014/main" id="{740027A7-4FF1-44AE-B8B2-5E98A5E48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6" y="1149862"/>
            <a:ext cx="2969823" cy="1748972"/>
          </a:xfrm>
          <a:prstGeom prst="rect">
            <a:avLst/>
          </a:prstGeom>
        </p:spPr>
      </p:pic>
      <p:pic>
        <p:nvPicPr>
          <p:cNvPr id="30" name="Imagen 29" descr="Camioneta blanca en la carretera&#10;&#10;Descripción generada automáticamente">
            <a:extLst>
              <a:ext uri="{FF2B5EF4-FFF2-40B4-BE49-F238E27FC236}">
                <a16:creationId xmlns:a16="http://schemas.microsoft.com/office/drawing/2014/main" id="{1CDB7425-3AA5-4067-55AC-E7AB222255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61" y="3125054"/>
            <a:ext cx="3082504" cy="1608928"/>
          </a:xfrm>
          <a:prstGeom prst="rect">
            <a:avLst/>
          </a:prstGeom>
        </p:spPr>
      </p:pic>
      <p:pic>
        <p:nvPicPr>
          <p:cNvPr id="2050" name="Picture 2" descr="Drone | 48 x Segundo">
            <a:extLst>
              <a:ext uri="{FF2B5EF4-FFF2-40B4-BE49-F238E27FC236}">
                <a16:creationId xmlns:a16="http://schemas.microsoft.com/office/drawing/2014/main" id="{07DD5B08-2462-9661-8D4E-8E7DFD4B1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40" y="1136656"/>
            <a:ext cx="2902401" cy="174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ymo: el coche autónomo de Google está cada vez más cerca">
            <a:extLst>
              <a:ext uri="{FF2B5EF4-FFF2-40B4-BE49-F238E27FC236}">
                <a16:creationId xmlns:a16="http://schemas.microsoft.com/office/drawing/2014/main" id="{6C8C7D0E-05B5-5884-3204-4D575E1E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35" y="3124231"/>
            <a:ext cx="2969821" cy="166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 Mundo dos Drones - Conheça as Melhores Marcas e Modelos">
            <a:extLst>
              <a:ext uri="{FF2B5EF4-FFF2-40B4-BE49-F238E27FC236}">
                <a16:creationId xmlns:a16="http://schemas.microsoft.com/office/drawing/2014/main" id="{B35958C1-BAEF-81DB-EA41-994EDDC2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39" y="3125055"/>
            <a:ext cx="2902401" cy="160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11D24EA-E955-BF69-45C2-400F58E45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86" y="5037131"/>
            <a:ext cx="2992870" cy="180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ehículo de guiado automático de manipulación - DTA - para cargas pesadas">
            <a:extLst>
              <a:ext uri="{FF2B5EF4-FFF2-40B4-BE49-F238E27FC236}">
                <a16:creationId xmlns:a16="http://schemas.microsoft.com/office/drawing/2014/main" id="{6FC6895B-CA32-E117-7FBB-ED4A16D04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311" y="4983016"/>
            <a:ext cx="3082505" cy="184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rones y agricultura – EXCONAIR">
            <a:extLst>
              <a:ext uri="{FF2B5EF4-FFF2-40B4-BE49-F238E27FC236}">
                <a16:creationId xmlns:a16="http://schemas.microsoft.com/office/drawing/2014/main" id="{038D7921-E093-2455-B629-237C964A2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40" y="5005456"/>
            <a:ext cx="2902402" cy="174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42">
            <a:extLst>
              <a:ext uri="{FF2B5EF4-FFF2-40B4-BE49-F238E27FC236}">
                <a16:creationId xmlns:a16="http://schemas.microsoft.com/office/drawing/2014/main" id="{8E2E73C5-FB56-6382-4E31-4467DF5044A1}"/>
              </a:ext>
            </a:extLst>
          </p:cNvPr>
          <p:cNvCxnSpPr>
            <a:cxnSpLocks/>
          </p:cNvCxnSpPr>
          <p:nvPr/>
        </p:nvCxnSpPr>
        <p:spPr>
          <a:xfrm>
            <a:off x="8004402" y="1909148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5607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>
            <a:extLst>
              <a:ext uri="{FF2B5EF4-FFF2-40B4-BE49-F238E27FC236}">
                <a16:creationId xmlns:a16="http://schemas.microsoft.com/office/drawing/2014/main" id="{17081206-BF20-9408-001C-93AF84A775BC}"/>
              </a:ext>
            </a:extLst>
          </p:cNvPr>
          <p:cNvSpPr/>
          <p:nvPr/>
        </p:nvSpPr>
        <p:spPr>
          <a:xfrm>
            <a:off x="117321" y="6585123"/>
            <a:ext cx="1324928" cy="16979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8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16 | Sistemas Digitales.</a:t>
            </a:r>
            <a:endParaRPr kumimoji="1" lang="en-US" sz="8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95B6210F-EE5A-95DA-B75E-2618E9F149CE}"/>
              </a:ext>
            </a:extLst>
          </p:cNvPr>
          <p:cNvSpPr/>
          <p:nvPr/>
        </p:nvSpPr>
        <p:spPr>
          <a:xfrm>
            <a:off x="1603115" y="0"/>
            <a:ext cx="8639161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4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¿Cuál es el impulsor Físico?</a:t>
            </a:r>
          </a:p>
        </p:txBody>
      </p:sp>
      <p:cxnSp>
        <p:nvCxnSpPr>
          <p:cNvPr id="18" name="直接连接符 42">
            <a:extLst>
              <a:ext uri="{FF2B5EF4-FFF2-40B4-BE49-F238E27FC236}">
                <a16:creationId xmlns:a16="http://schemas.microsoft.com/office/drawing/2014/main" id="{D6C742CA-87BA-582B-1FAC-C0F57CDAC416}"/>
              </a:ext>
            </a:extLst>
          </p:cNvPr>
          <p:cNvCxnSpPr>
            <a:cxnSpLocks/>
          </p:cNvCxnSpPr>
          <p:nvPr/>
        </p:nvCxnSpPr>
        <p:spPr>
          <a:xfrm>
            <a:off x="3544413" y="1736203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0" name="矩形 59">
            <a:extLst>
              <a:ext uri="{FF2B5EF4-FFF2-40B4-BE49-F238E27FC236}">
                <a16:creationId xmlns:a16="http://schemas.microsoft.com/office/drawing/2014/main" id="{3A588F82-A513-C20D-E31F-E415780DE544}"/>
              </a:ext>
            </a:extLst>
          </p:cNvPr>
          <p:cNvSpPr/>
          <p:nvPr/>
        </p:nvSpPr>
        <p:spPr>
          <a:xfrm>
            <a:off x="2587102" y="886335"/>
            <a:ext cx="1615169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Impresión 3D</a:t>
            </a:r>
          </a:p>
        </p:txBody>
      </p:sp>
      <p:sp>
        <p:nvSpPr>
          <p:cNvPr id="23" name="矩形 59">
            <a:extLst>
              <a:ext uri="{FF2B5EF4-FFF2-40B4-BE49-F238E27FC236}">
                <a16:creationId xmlns:a16="http://schemas.microsoft.com/office/drawing/2014/main" id="{5D278881-4183-14F3-3A84-B90A5DAD50CB}"/>
              </a:ext>
            </a:extLst>
          </p:cNvPr>
          <p:cNvSpPr/>
          <p:nvPr/>
        </p:nvSpPr>
        <p:spPr>
          <a:xfrm>
            <a:off x="8802076" y="886335"/>
            <a:ext cx="2052391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Robótica avanzada</a:t>
            </a:r>
          </a:p>
        </p:txBody>
      </p:sp>
      <p:pic>
        <p:nvPicPr>
          <p:cNvPr id="9220" name="Picture 4" descr="Crean órganos humanos en impresoras 3D - Epidauro">
            <a:extLst>
              <a:ext uri="{FF2B5EF4-FFF2-40B4-BE49-F238E27FC236}">
                <a16:creationId xmlns:a16="http://schemas.microsoft.com/office/drawing/2014/main" id="{2165DEE7-CF86-AFAD-8871-83765F96D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67" y="1402512"/>
            <a:ext cx="2705989" cy="151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Primer puente del mundo impreso en 3D en acero - Noticias y Opiniones GRUPO  INDEX">
            <a:extLst>
              <a:ext uri="{FF2B5EF4-FFF2-40B4-BE49-F238E27FC236}">
                <a16:creationId xmlns:a16="http://schemas.microsoft.com/office/drawing/2014/main" id="{CB0AC3C4-1B14-BB4F-163A-F4065A44A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85" y="4912458"/>
            <a:ext cx="2799311" cy="167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直接连接符 42">
            <a:extLst>
              <a:ext uri="{FF2B5EF4-FFF2-40B4-BE49-F238E27FC236}">
                <a16:creationId xmlns:a16="http://schemas.microsoft.com/office/drawing/2014/main" id="{005A29EF-DCB1-34BB-0C75-A90FF8F28EBB}"/>
              </a:ext>
            </a:extLst>
          </p:cNvPr>
          <p:cNvCxnSpPr>
            <a:cxnSpLocks/>
          </p:cNvCxnSpPr>
          <p:nvPr/>
        </p:nvCxnSpPr>
        <p:spPr>
          <a:xfrm>
            <a:off x="7608364" y="1736203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pic>
        <p:nvPicPr>
          <p:cNvPr id="9226" name="Picture 10" descr="Conoce cómo funciona la cirugía robótica">
            <a:extLst>
              <a:ext uri="{FF2B5EF4-FFF2-40B4-BE49-F238E27FC236}">
                <a16:creationId xmlns:a16="http://schemas.microsoft.com/office/drawing/2014/main" id="{0741A819-FD30-D151-AD05-6ABD8B139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840" y="1317566"/>
            <a:ext cx="2922128" cy="180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El robot Curiosity encuentra evidencias de agua líquida en Marte">
            <a:extLst>
              <a:ext uri="{FF2B5EF4-FFF2-40B4-BE49-F238E27FC236}">
                <a16:creationId xmlns:a16="http://schemas.microsoft.com/office/drawing/2014/main" id="{BA35C55B-E19D-5B79-C16B-FDA13E8DA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981" y="3215995"/>
            <a:ext cx="2897535" cy="162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Video Ranking: los 10 robots más avanzados en la actualidad">
            <a:extLst>
              <a:ext uri="{FF2B5EF4-FFF2-40B4-BE49-F238E27FC236}">
                <a16:creationId xmlns:a16="http://schemas.microsoft.com/office/drawing/2014/main" id="{AAD0EB9E-5448-7DD9-6DD3-50E66580C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345" y="4986738"/>
            <a:ext cx="2920171" cy="151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a primera casa impresa en 3D de España está en Valencia | Las Provincias">
            <a:extLst>
              <a:ext uri="{FF2B5EF4-FFF2-40B4-BE49-F238E27FC236}">
                <a16:creationId xmlns:a16="http://schemas.microsoft.com/office/drawing/2014/main" id="{4F6CE6BF-95EB-66FD-9E64-216469891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930" y="1380345"/>
            <a:ext cx="2782036" cy="175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presión 3D para componentes biocompatibles y esterilizables - Revista MP">
            <a:extLst>
              <a:ext uri="{FF2B5EF4-FFF2-40B4-BE49-F238E27FC236}">
                <a16:creationId xmlns:a16="http://schemas.microsoft.com/office/drawing/2014/main" id="{A4E203B2-0C64-E701-FE93-73E05878C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67" y="4376459"/>
            <a:ext cx="2920172" cy="246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4.700+ Impresion 3d Vídeos de stock y películas libres de derechos - iStock  | Impresora 3d, Tecnologia, Impresion digital">
            <a:extLst>
              <a:ext uri="{FF2B5EF4-FFF2-40B4-BE49-F238E27FC236}">
                <a16:creationId xmlns:a16="http://schemas.microsoft.com/office/drawing/2014/main" id="{1031C141-A4CF-E121-6C50-DDA09C7FE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72" y="3061091"/>
            <a:ext cx="2757074" cy="155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sí es la primera casa que se está construyendo en Alemania con una impresora  3D — idealista/news">
            <a:extLst>
              <a:ext uri="{FF2B5EF4-FFF2-40B4-BE49-F238E27FC236}">
                <a16:creationId xmlns:a16="http://schemas.microsoft.com/office/drawing/2014/main" id="{5EA60B28-BFF0-2291-4525-360172E7D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2" y="3302594"/>
            <a:ext cx="2790114" cy="144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79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668867" y="1075740"/>
            <a:ext cx="1106593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Cloud Computing: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Servicios de computación a través de Internet. Usuarios consumen recursos y servicios sin requerir infraestructuras propias.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Internet de las cosas (</a:t>
            </a:r>
            <a:r>
              <a:rPr lang="es-ES" b="1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IoT</a:t>
            </a: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):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Dispositivos físicos interconectados para monitorear y controlar activos y actividades.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Big Data: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Refiere a grandes conjuntos de datos complejos que requieren herramientas especializadas para su procesamiento y análisis, revelando patrones y conocimientos relevantes sobre comportamientos y consumos de los usuarios.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Blockchain</a:t>
            </a: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Protocolo seguro que permite verifica transacciones sin autoridad central, utilizado en aplicaciones financieras como Bitcoin, certificados, títulos de propiedad y procesos médicos entre otros.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Realidad Aumentada: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Combina elementos del mundo real con elementos virtuales para mejorar la percepción de la realidad.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Realidad Virtual: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Simulación computarizada inmersiva que recrea un entorno tridimensional donde los usuarios pueden sumergirse y explorar.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Plataformas tecnológicas: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Facilitan la conexión de personas, activos y datos, y crean nuevas formas de consumo de bienes y servicios. Ejemplos Uber, Spotify, Netflix, han transformado la forma en que las personas acceden a servicios.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9C2142-C0AE-AAE5-038A-923C92A48714}"/>
              </a:ext>
            </a:extLst>
          </p:cNvPr>
          <p:cNvSpPr txBox="1"/>
          <p:nvPr/>
        </p:nvSpPr>
        <p:spPr>
          <a:xfrm>
            <a:off x="2863850" y="334615"/>
            <a:ext cx="6100232" cy="5232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ES" dirty="0">
                <a:solidFill>
                  <a:srgbClr val="0062AC"/>
                </a:solidFill>
              </a:rPr>
              <a:t>¿Cuál es el impulsor Digital?</a:t>
            </a:r>
          </a:p>
        </p:txBody>
      </p:sp>
    </p:spTree>
    <p:extLst>
      <p:ext uri="{BB962C8B-B14F-4D97-AF65-F5344CB8AC3E}">
        <p14:creationId xmlns:p14="http://schemas.microsoft.com/office/powerpoint/2010/main" val="80041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2013214" y="5136049"/>
            <a:ext cx="9675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sz="2000" b="1" dirty="0">
              <a:solidFill>
                <a:srgbClr val="37415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454F36-2D1C-0F1B-FDF8-704B0929574D}"/>
              </a:ext>
            </a:extLst>
          </p:cNvPr>
          <p:cNvSpPr txBox="1"/>
          <p:nvPr/>
        </p:nvSpPr>
        <p:spPr>
          <a:xfrm>
            <a:off x="2863850" y="551414"/>
            <a:ext cx="6100232" cy="5232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ES" dirty="0">
                <a:solidFill>
                  <a:srgbClr val="0062AC"/>
                </a:solidFill>
              </a:rPr>
              <a:t>¿Cuál es el impulsor Biológica?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04518AC-2284-D800-68E4-BEA9DCEA7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30" y="1172291"/>
            <a:ext cx="1168823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Innovaciones en Genética: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Reducción del costo y facilidad de secuenciación genética ADN.</a:t>
            </a:r>
            <a:b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Proyecto Genoma Humano tomó más de diez años y 2.700 millones de </a:t>
            </a:r>
            <a:r>
              <a:rPr kumimoji="0" lang="es-AR" altLang="es-A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dólares.Hoy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, un genoma se secuencia en pocas horas y por menos de 1.000 dólares.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Biología sintética: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Permite la personalización de organismos mediante la configuración del ADN.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Revolución en medicina personalizada: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Mejora en el tratamiento del cáncer al determinar la constitución genética de un tumor.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Medicina más precisa y terapias dirigidas.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Ingeniería genética: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Más precisa, eficaz y fácil de usar.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Limitaciones jurídicas, regulatorias y éticas.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Modificación de animales y creación de cultivos resistentes.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Diseño de animales para producir productos farmacéuticos y órganos de trasplante.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30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 descr="La Cuarta Revolución Industrial en el Perú para las PYMES | DIARIO DEL  EXPORTADOR">
            <a:extLst>
              <a:ext uri="{FF2B5EF4-FFF2-40B4-BE49-F238E27FC236}">
                <a16:creationId xmlns:a16="http://schemas.microsoft.com/office/drawing/2014/main" id="{83DA3E7C-7A50-4731-177C-BCF6BC789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0470" y="2657201"/>
            <a:ext cx="6681047" cy="383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La Industria 5.0 eleva la competitividad de las pymes - Automatización en  la Industria 4.0">
            <a:extLst>
              <a:ext uri="{FF2B5EF4-FFF2-40B4-BE49-F238E27FC236}">
                <a16:creationId xmlns:a16="http://schemas.microsoft.com/office/drawing/2014/main" id="{16FB3AB0-892B-C798-8029-4B33B1D40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2561" y="1482"/>
            <a:ext cx="2785385" cy="159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C0955AF-072B-5A85-0587-C7811E486EB5}"/>
              </a:ext>
            </a:extLst>
          </p:cNvPr>
          <p:cNvSpPr txBox="1"/>
          <p:nvPr/>
        </p:nvSpPr>
        <p:spPr>
          <a:xfrm>
            <a:off x="4582984" y="3191194"/>
            <a:ext cx="698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baseline="-25000" dirty="0"/>
              <a:t>+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60BB30-BCA7-6962-5B6A-32A273C6D4E5}"/>
              </a:ext>
            </a:extLst>
          </p:cNvPr>
          <p:cNvSpPr txBox="1"/>
          <p:nvPr/>
        </p:nvSpPr>
        <p:spPr>
          <a:xfrm>
            <a:off x="7611648" y="2002366"/>
            <a:ext cx="698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baseline="-25000" dirty="0"/>
              <a:t>=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BBE3185-EE56-3B9E-1A24-BBB727EEC824}"/>
              </a:ext>
            </a:extLst>
          </p:cNvPr>
          <p:cNvGrpSpPr/>
          <p:nvPr/>
        </p:nvGrpSpPr>
        <p:grpSpPr>
          <a:xfrm>
            <a:off x="8793632" y="290930"/>
            <a:ext cx="3205163" cy="1943535"/>
            <a:chOff x="7792634" y="2083097"/>
            <a:chExt cx="4306888" cy="2712939"/>
          </a:xfrm>
        </p:grpSpPr>
        <p:pic>
          <p:nvPicPr>
            <p:cNvPr id="5130" name="Picture 10" descr="Qubix | Cloud Planning Business Case Builder">
              <a:extLst>
                <a:ext uri="{FF2B5EF4-FFF2-40B4-BE49-F238E27FC236}">
                  <a16:creationId xmlns:a16="http://schemas.microsoft.com/office/drawing/2014/main" id="{B260179E-CC45-C378-AC95-77EAE6150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2634" y="2083097"/>
              <a:ext cx="4306888" cy="2691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C81F3BDE-F681-F03D-6624-068B1D5BD5C5}"/>
                </a:ext>
              </a:extLst>
            </p:cNvPr>
            <p:cNvSpPr txBox="1"/>
            <p:nvPr/>
          </p:nvSpPr>
          <p:spPr>
            <a:xfrm>
              <a:off x="9895408" y="4280493"/>
              <a:ext cx="2073449" cy="51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b="1" dirty="0">
                  <a:solidFill>
                    <a:srgbClr val="188BCA"/>
                  </a:solidFill>
                  <a:latin typeface="+mj-lt"/>
                  <a:ea typeface="Roboto" panose="02000000000000000000" pitchFamily="2" charset="0"/>
                </a:rPr>
                <a:t>Industria 5.0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44E2A06-7283-E228-745F-992F3749DA54}"/>
              </a:ext>
            </a:extLst>
          </p:cNvPr>
          <p:cNvSpPr txBox="1"/>
          <p:nvPr/>
        </p:nvSpPr>
        <p:spPr>
          <a:xfrm>
            <a:off x="8956186" y="2505669"/>
            <a:ext cx="30426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0000"/>
                    <a:lumOff val="10000"/>
                  </a:schemeClr>
                </a:solidFill>
                <a:latin typeface="Open Sans" panose="020B0606030504020204" pitchFamily="34" charset="0"/>
              </a:rPr>
              <a:t>C</a:t>
            </a:r>
            <a:r>
              <a:rPr lang="es-ES" sz="1600" b="0" i="0" dirty="0">
                <a:solidFill>
                  <a:schemeClr val="bg1">
                    <a:lumMod val="90000"/>
                    <a:lumOff val="10000"/>
                  </a:schemeClr>
                </a:solidFill>
                <a:effectLst/>
                <a:latin typeface="Open Sans" panose="020B0606030504020204" pitchFamily="34" charset="0"/>
              </a:rPr>
              <a:t>olaboración entre la IA y humanos para mejorar la productividad y la eficiencia. </a:t>
            </a:r>
            <a:endParaRPr lang="es-AR" sz="16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27CCC3ED-0305-AB58-1AC5-0D84421CDC3A}"/>
              </a:ext>
            </a:extLst>
          </p:cNvPr>
          <p:cNvGrpSpPr/>
          <p:nvPr/>
        </p:nvGrpSpPr>
        <p:grpSpPr>
          <a:xfrm>
            <a:off x="5798364" y="2160407"/>
            <a:ext cx="1537023" cy="2145272"/>
            <a:chOff x="5034428" y="3052393"/>
            <a:chExt cx="1155700" cy="1559651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83F04D1B-71F1-A347-BA29-74704039841C}"/>
                </a:ext>
              </a:extLst>
            </p:cNvPr>
            <p:cNvSpPr txBox="1"/>
            <p:nvPr/>
          </p:nvSpPr>
          <p:spPr>
            <a:xfrm>
              <a:off x="5162711" y="4211934"/>
              <a:ext cx="10274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000" dirty="0">
                  <a:solidFill>
                    <a:schemeClr val="bg1">
                      <a:lumMod val="90000"/>
                      <a:lumOff val="1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IA y ML</a:t>
              </a:r>
            </a:p>
          </p:txBody>
        </p:sp>
        <p:pic>
          <p:nvPicPr>
            <p:cNvPr id="10" name="Imagen 9" descr="Una caricatura de una persona&#10;&#10;Descripción generada automáticamente con confianza baja">
              <a:extLst>
                <a:ext uri="{FF2B5EF4-FFF2-40B4-BE49-F238E27FC236}">
                  <a16:creationId xmlns:a16="http://schemas.microsoft.com/office/drawing/2014/main" id="{B8AB1BC1-C92E-0F31-1063-23B0EA6F7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4428" y="3052393"/>
              <a:ext cx="1051253" cy="1098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224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19">
            <a:extLst>
              <a:ext uri="{FF2B5EF4-FFF2-40B4-BE49-F238E27FC236}">
                <a16:creationId xmlns:a16="http://schemas.microsoft.com/office/drawing/2014/main" id="{92E741E5-104F-1001-87BD-4ED70B756CA1}"/>
              </a:ext>
            </a:extLst>
          </p:cNvPr>
          <p:cNvGrpSpPr/>
          <p:nvPr/>
        </p:nvGrpSpPr>
        <p:grpSpPr>
          <a:xfrm>
            <a:off x="494208" y="1087277"/>
            <a:ext cx="3373115" cy="351654"/>
            <a:chOff x="3776724" y="2401006"/>
            <a:chExt cx="5339049" cy="542681"/>
          </a:xfrm>
        </p:grpSpPr>
        <p:sp>
          <p:nvSpPr>
            <p:cNvPr id="10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406897C9-BBFE-B8EE-54C7-47B40CF12F1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ES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Capacidad de resolver problemas</a:t>
              </a:r>
              <a:endParaRPr lang="en-US" altLang="zh-CN" sz="1400" kern="0" dirty="0">
                <a:latin typeface="Roboto" panose="02000000000000000000" pitchFamily="2" charset="0"/>
                <a:ea typeface="Roboto" panose="02000000000000000000" pitchFamily="2" charset="0"/>
                <a:sym typeface="Arial" panose="020B0604020202020204" pitchFamily="34" charset="0"/>
              </a:endParaRPr>
            </a:p>
          </p:txBody>
        </p:sp>
        <p:sp>
          <p:nvSpPr>
            <p:cNvPr id="11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7DEF7F8F-88A9-C3FC-3096-1BBE45F6BC8F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1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9">
            <a:extLst>
              <a:ext uri="{FF2B5EF4-FFF2-40B4-BE49-F238E27FC236}">
                <a16:creationId xmlns:a16="http://schemas.microsoft.com/office/drawing/2014/main" id="{46A91091-D20A-75FE-E3F8-9766F9DFDFC8}"/>
              </a:ext>
            </a:extLst>
          </p:cNvPr>
          <p:cNvGrpSpPr/>
          <p:nvPr/>
        </p:nvGrpSpPr>
        <p:grpSpPr>
          <a:xfrm>
            <a:off x="494208" y="2433858"/>
            <a:ext cx="3373115" cy="351654"/>
            <a:chOff x="3776724" y="2401006"/>
            <a:chExt cx="5339049" cy="542681"/>
          </a:xfrm>
        </p:grpSpPr>
        <p:sp>
          <p:nvSpPr>
            <p:cNvPr id="13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4E6AA204-2A63-EEC6-30C2-4C14E070C7D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ES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Abordaje metodológico</a:t>
              </a:r>
              <a:endParaRPr lang="en-US" altLang="zh-CN" sz="1400" kern="0" dirty="0">
                <a:latin typeface="Roboto" panose="02000000000000000000" pitchFamily="2" charset="0"/>
                <a:ea typeface="Roboto" panose="02000000000000000000" pitchFamily="2" charset="0"/>
                <a:sym typeface="Arial" panose="020B0604020202020204" pitchFamily="34" charset="0"/>
              </a:endParaRPr>
            </a:p>
          </p:txBody>
        </p:sp>
        <p:sp>
          <p:nvSpPr>
            <p:cNvPr id="14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36776AD8-91B7-5140-6093-48F76EA0673C}"/>
                </a:ext>
              </a:extLst>
            </p:cNvPr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9">
            <a:extLst>
              <a:ext uri="{FF2B5EF4-FFF2-40B4-BE49-F238E27FC236}">
                <a16:creationId xmlns:a16="http://schemas.microsoft.com/office/drawing/2014/main" id="{D4BF1E87-2768-46E3-BF20-6A64027E9BD9}"/>
              </a:ext>
            </a:extLst>
          </p:cNvPr>
          <p:cNvGrpSpPr/>
          <p:nvPr/>
        </p:nvGrpSpPr>
        <p:grpSpPr>
          <a:xfrm>
            <a:off x="494208" y="3908734"/>
            <a:ext cx="3373115" cy="351654"/>
            <a:chOff x="3776724" y="2401006"/>
            <a:chExt cx="5339049" cy="542681"/>
          </a:xfrm>
        </p:grpSpPr>
        <p:sp>
          <p:nvSpPr>
            <p:cNvPr id="16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BB1B5CFE-AE0C-6825-77CF-421CFC97B2DD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Trabajo en equipo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3338CB96-8C80-339B-0442-58C70E65153F}"/>
                </a:ext>
              </a:extLst>
            </p:cNvPr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3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19">
            <a:extLst>
              <a:ext uri="{FF2B5EF4-FFF2-40B4-BE49-F238E27FC236}">
                <a16:creationId xmlns:a16="http://schemas.microsoft.com/office/drawing/2014/main" id="{71D4F2E3-A37D-AE99-3904-01688450874D}"/>
              </a:ext>
            </a:extLst>
          </p:cNvPr>
          <p:cNvGrpSpPr/>
          <p:nvPr/>
        </p:nvGrpSpPr>
        <p:grpSpPr>
          <a:xfrm>
            <a:off x="494208" y="5144821"/>
            <a:ext cx="3373115" cy="351654"/>
            <a:chOff x="3776724" y="2401006"/>
            <a:chExt cx="5339049" cy="542681"/>
          </a:xfrm>
        </p:grpSpPr>
        <p:sp>
          <p:nvSpPr>
            <p:cNvPr id="19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6EE2BDDC-B0C8-2148-2F56-A1673ABEDC88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Capacidad de aprender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AF88230C-EECC-1F2F-B5F0-33AFAFE2F890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4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1" name="组合 19">
            <a:extLst>
              <a:ext uri="{FF2B5EF4-FFF2-40B4-BE49-F238E27FC236}">
                <a16:creationId xmlns:a16="http://schemas.microsoft.com/office/drawing/2014/main" id="{15868C85-70D0-0E90-BA34-ADFC6BCD4482}"/>
              </a:ext>
            </a:extLst>
          </p:cNvPr>
          <p:cNvGrpSpPr/>
          <p:nvPr/>
        </p:nvGrpSpPr>
        <p:grpSpPr>
          <a:xfrm>
            <a:off x="5004518" y="3908734"/>
            <a:ext cx="3373115" cy="351654"/>
            <a:chOff x="3776724" y="2401006"/>
            <a:chExt cx="5339049" cy="542681"/>
          </a:xfrm>
        </p:grpSpPr>
        <p:sp>
          <p:nvSpPr>
            <p:cNvPr id="22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C366CAC5-1753-E9EF-45C8-90B92F1C26F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Creatividad e innovación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528B3B67-4711-BC61-E2DD-60838E1572A2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7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19">
            <a:extLst>
              <a:ext uri="{FF2B5EF4-FFF2-40B4-BE49-F238E27FC236}">
                <a16:creationId xmlns:a16="http://schemas.microsoft.com/office/drawing/2014/main" id="{CD012251-394D-75AA-E395-534A1F71B70D}"/>
              </a:ext>
            </a:extLst>
          </p:cNvPr>
          <p:cNvGrpSpPr/>
          <p:nvPr/>
        </p:nvGrpSpPr>
        <p:grpSpPr>
          <a:xfrm>
            <a:off x="5004518" y="5144821"/>
            <a:ext cx="3373115" cy="351654"/>
            <a:chOff x="3776724" y="2401006"/>
            <a:chExt cx="5339049" cy="542681"/>
          </a:xfrm>
        </p:grpSpPr>
        <p:sp>
          <p:nvSpPr>
            <p:cNvPr id="25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FC5891FA-8875-ACFB-82F6-7FAD74256657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Negociación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F7587085-C30B-D5CD-8CC4-11A57A1302EB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8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19">
            <a:extLst>
              <a:ext uri="{FF2B5EF4-FFF2-40B4-BE49-F238E27FC236}">
                <a16:creationId xmlns:a16="http://schemas.microsoft.com/office/drawing/2014/main" id="{097F61F0-ECC9-7B90-3013-19C43082DF67}"/>
              </a:ext>
            </a:extLst>
          </p:cNvPr>
          <p:cNvGrpSpPr/>
          <p:nvPr/>
        </p:nvGrpSpPr>
        <p:grpSpPr>
          <a:xfrm>
            <a:off x="9028357" y="1036368"/>
            <a:ext cx="2742981" cy="351654"/>
            <a:chOff x="3692784" y="2401006"/>
            <a:chExt cx="5422989" cy="542681"/>
          </a:xfrm>
        </p:grpSpPr>
        <p:sp>
          <p:nvSpPr>
            <p:cNvPr id="28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8951007A-9163-0075-1B00-6D187A725D81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Pasión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EB451FD6-F9C2-48AD-E3CA-499FF2DA17B9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3692784" y="2401006"/>
              <a:ext cx="744820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9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组合 19">
            <a:extLst>
              <a:ext uri="{FF2B5EF4-FFF2-40B4-BE49-F238E27FC236}">
                <a16:creationId xmlns:a16="http://schemas.microsoft.com/office/drawing/2014/main" id="{2016AF96-E8C7-A8D8-AB40-B3B5433086FC}"/>
              </a:ext>
            </a:extLst>
          </p:cNvPr>
          <p:cNvGrpSpPr/>
          <p:nvPr/>
        </p:nvGrpSpPr>
        <p:grpSpPr>
          <a:xfrm>
            <a:off x="5004518" y="2433858"/>
            <a:ext cx="3373115" cy="351654"/>
            <a:chOff x="3776724" y="2401006"/>
            <a:chExt cx="5339049" cy="542681"/>
          </a:xfrm>
        </p:grpSpPr>
        <p:sp>
          <p:nvSpPr>
            <p:cNvPr id="31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7A9D800E-6120-9502-21AB-2952CF8C8FD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Adaptabilidad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AD2E31AB-A306-4838-C1DA-8F3B3FE7B0AD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6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组合 19">
            <a:extLst>
              <a:ext uri="{FF2B5EF4-FFF2-40B4-BE49-F238E27FC236}">
                <a16:creationId xmlns:a16="http://schemas.microsoft.com/office/drawing/2014/main" id="{29427039-D00F-098B-312B-A620A80D8B28}"/>
              </a:ext>
            </a:extLst>
          </p:cNvPr>
          <p:cNvGrpSpPr/>
          <p:nvPr/>
        </p:nvGrpSpPr>
        <p:grpSpPr>
          <a:xfrm>
            <a:off x="5004518" y="1087277"/>
            <a:ext cx="3373115" cy="351654"/>
            <a:chOff x="3776724" y="2401006"/>
            <a:chExt cx="5339049" cy="542681"/>
          </a:xfrm>
        </p:grpSpPr>
        <p:sp>
          <p:nvSpPr>
            <p:cNvPr id="34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2A2D16E0-64B5-434E-C65B-BAB1A634A3E6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Inteligencia emocional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B48155B8-502A-51CA-4F1C-1534BBFE89B0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5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5883AB1-D4A6-852C-1BF0-D094E46CA4E2}"/>
              </a:ext>
            </a:extLst>
          </p:cNvPr>
          <p:cNvSpPr txBox="1"/>
          <p:nvPr/>
        </p:nvSpPr>
        <p:spPr>
          <a:xfrm>
            <a:off x="147045" y="178248"/>
            <a:ext cx="6038602" cy="47045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algn="l"/>
            <a:r>
              <a:rPr lang="es-ES" sz="1800" b="1" dirty="0">
                <a:solidFill>
                  <a:srgbClr val="0062AC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Cualidades y aptitudes requeridas en los profesionales de IT.</a:t>
            </a:r>
          </a:p>
        </p:txBody>
      </p:sp>
      <p:cxnSp>
        <p:nvCxnSpPr>
          <p:cNvPr id="3" name="直接连接符 49">
            <a:extLst>
              <a:ext uri="{FF2B5EF4-FFF2-40B4-BE49-F238E27FC236}">
                <a16:creationId xmlns:a16="http://schemas.microsoft.com/office/drawing/2014/main" id="{F9A1EEE4-8675-682F-272E-F2AEBE30FE97}"/>
              </a:ext>
            </a:extLst>
          </p:cNvPr>
          <p:cNvCxnSpPr>
            <a:cxnSpLocks/>
          </p:cNvCxnSpPr>
          <p:nvPr/>
        </p:nvCxnSpPr>
        <p:spPr>
          <a:xfrm>
            <a:off x="235447" y="648701"/>
            <a:ext cx="5950200" cy="0"/>
          </a:xfrm>
          <a:prstGeom prst="line">
            <a:avLst/>
          </a:prstGeom>
          <a:ln w="15875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0882B53-1F61-9DD5-5EB6-4FBB1E2D9B04}"/>
              </a:ext>
            </a:extLst>
          </p:cNvPr>
          <p:cNvSpPr txBox="1"/>
          <p:nvPr/>
        </p:nvSpPr>
        <p:spPr>
          <a:xfrm>
            <a:off x="1197837" y="1502339"/>
            <a:ext cx="3099710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Resiliencia.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Sólido conocimiento técnico.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Pensamiento crítico, lógico y analítico.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C073D8A-C9DB-8BE8-CF0C-16931AEDDA83}"/>
              </a:ext>
            </a:extLst>
          </p:cNvPr>
          <p:cNvSpPr txBox="1"/>
          <p:nvPr/>
        </p:nvSpPr>
        <p:spPr>
          <a:xfrm>
            <a:off x="1197837" y="2852987"/>
            <a:ext cx="332021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Análisis de causas y efectos, ¿5 </a:t>
            </a:r>
            <a:r>
              <a:rPr lang="es-AR" dirty="0" err="1"/>
              <a:t>Porque´s</a:t>
            </a:r>
            <a:r>
              <a:rPr lang="es-AR" dirty="0"/>
              <a:t>?, Matriz de Eisenhower, 6M, 5S y otros.</a:t>
            </a:r>
          </a:p>
          <a:p>
            <a:pPr>
              <a:spcAft>
                <a:spcPts val="300"/>
              </a:spcAft>
            </a:pPr>
            <a:r>
              <a:rPr lang="es-ES" dirty="0"/>
              <a:t>Estrategia y táctica. OKR, PDCA y BPM.</a:t>
            </a:r>
            <a:endParaRPr lang="es-AR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F1851EA-EEF7-2EA4-4D1F-C7A856A8F34D}"/>
              </a:ext>
            </a:extLst>
          </p:cNvPr>
          <p:cNvSpPr txBox="1"/>
          <p:nvPr/>
        </p:nvSpPr>
        <p:spPr>
          <a:xfrm>
            <a:off x="1197836" y="4353762"/>
            <a:ext cx="3155957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Apertura y humildad.</a:t>
            </a:r>
          </a:p>
          <a:p>
            <a:pPr>
              <a:spcAft>
                <a:spcPts val="300"/>
              </a:spcAft>
            </a:pPr>
            <a:r>
              <a:rPr lang="es-AR" dirty="0"/>
              <a:t>Metodologías ágiles. </a:t>
            </a:r>
            <a:r>
              <a:rPr lang="es-ES" dirty="0" err="1"/>
              <a:t>Design</a:t>
            </a:r>
            <a:r>
              <a:rPr lang="es-ES" dirty="0"/>
              <a:t> </a:t>
            </a:r>
            <a:r>
              <a:rPr lang="es-ES" dirty="0" err="1"/>
              <a:t>Thinking</a:t>
            </a:r>
            <a:r>
              <a:rPr lang="es-ES" dirty="0"/>
              <a:t>, Scrum, Kanban y otros</a:t>
            </a:r>
            <a:r>
              <a:rPr lang="es-AR" dirty="0"/>
              <a:t>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0B5016F-E053-F3FF-C06A-47C802A98B33}"/>
              </a:ext>
            </a:extLst>
          </p:cNvPr>
          <p:cNvSpPr txBox="1"/>
          <p:nvPr/>
        </p:nvSpPr>
        <p:spPr>
          <a:xfrm>
            <a:off x="1197837" y="5654694"/>
            <a:ext cx="2976612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Desaprender y volver a aprender.</a:t>
            </a:r>
          </a:p>
          <a:p>
            <a:pPr>
              <a:spcAft>
                <a:spcPts val="300"/>
              </a:spcAft>
            </a:pPr>
            <a:r>
              <a:rPr lang="es-AR" dirty="0"/>
              <a:t>Diciplina y autogestión.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1DEA66B-272D-E42C-9976-BF97C11C345A}"/>
              </a:ext>
            </a:extLst>
          </p:cNvPr>
          <p:cNvSpPr txBox="1"/>
          <p:nvPr/>
        </p:nvSpPr>
        <p:spPr>
          <a:xfrm>
            <a:off x="5619128" y="1500700"/>
            <a:ext cx="291527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Relaciones interpersonales, empatía.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Escucha activa.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Comunicaciones asertivas.</a:t>
            </a:r>
            <a:br>
              <a:rPr lang="es-AR" sz="1200" dirty="0"/>
            </a:br>
            <a:endParaRPr lang="es-AR" sz="1200" dirty="0"/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0702D3A-7752-4C43-0014-6AB347ED7CFF}"/>
              </a:ext>
            </a:extLst>
          </p:cNvPr>
          <p:cNvSpPr txBox="1"/>
          <p:nvPr/>
        </p:nvSpPr>
        <p:spPr>
          <a:xfrm>
            <a:off x="5619128" y="2926439"/>
            <a:ext cx="302322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Capacidad de adaptarse a los cambios.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Aprendizaje autodirigido.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B6597E5-C911-6DA8-83D9-5CF81D7B9F6A}"/>
              </a:ext>
            </a:extLst>
          </p:cNvPr>
          <p:cNvSpPr txBox="1"/>
          <p:nvPr/>
        </p:nvSpPr>
        <p:spPr>
          <a:xfrm>
            <a:off x="5619127" y="4343628"/>
            <a:ext cx="340922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Visualizar e imaginar soluciones diferentes.</a:t>
            </a:r>
          </a:p>
          <a:p>
            <a:pPr>
              <a:spcAft>
                <a:spcPts val="300"/>
              </a:spcAft>
            </a:pPr>
            <a:r>
              <a:rPr lang="es-AR" dirty="0"/>
              <a:t>Pensamiento lateral.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90BB710-B0CF-5333-8975-A30D78B5F2B9}"/>
              </a:ext>
            </a:extLst>
          </p:cNvPr>
          <p:cNvSpPr txBox="1"/>
          <p:nvPr/>
        </p:nvSpPr>
        <p:spPr>
          <a:xfrm>
            <a:off x="5619128" y="5662353"/>
            <a:ext cx="2976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r>
              <a:rPr lang="es-AR" dirty="0"/>
              <a:t>Preparación previa.</a:t>
            </a:r>
          </a:p>
          <a:p>
            <a:r>
              <a:rPr lang="es-AR" dirty="0"/>
              <a:t>Identificación de intereses comunes.</a:t>
            </a:r>
          </a:p>
          <a:p>
            <a:r>
              <a:rPr lang="es-AR" dirty="0"/>
              <a:t>Orientado a resultados.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9AABC3-8AB8-4ABD-364B-016B1B57CC69}"/>
              </a:ext>
            </a:extLst>
          </p:cNvPr>
          <p:cNvSpPr txBox="1"/>
          <p:nvPr/>
        </p:nvSpPr>
        <p:spPr>
          <a:xfrm>
            <a:off x="8923237" y="1677672"/>
            <a:ext cx="3080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0" i="1" dirty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"Si te dedicas a aquello que te gusta y te apasiona, no es necesario contar con ningún plan maestro para alcanzar el éxito"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6320A8-5C45-43A8-49B5-664B817EAC07}"/>
              </a:ext>
            </a:extLst>
          </p:cNvPr>
          <p:cNvSpPr txBox="1"/>
          <p:nvPr/>
        </p:nvSpPr>
        <p:spPr>
          <a:xfrm>
            <a:off x="10162037" y="2392649"/>
            <a:ext cx="2034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464646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Mark Zuckerberg </a:t>
            </a:r>
            <a:br>
              <a:rPr lang="es-ES" sz="1000" dirty="0">
                <a:solidFill>
                  <a:srgbClr val="464646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1000" b="0" i="0" dirty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Cofundador / CEO de Facebook.</a:t>
            </a:r>
            <a:endParaRPr lang="es-AR" sz="1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BFC5A0-963C-FD28-F202-2A66BE939D76}"/>
              </a:ext>
            </a:extLst>
          </p:cNvPr>
          <p:cNvSpPr txBox="1"/>
          <p:nvPr/>
        </p:nvSpPr>
        <p:spPr>
          <a:xfrm>
            <a:off x="8923237" y="3808866"/>
            <a:ext cx="3261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0" i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r>
              <a:rPr lang="es-AR" sz="1200" b="1" dirty="0"/>
              <a:t>"Stay hungry, stay </a:t>
            </a:r>
            <a:r>
              <a:rPr lang="es-AR" sz="1200" b="1" dirty="0" err="1"/>
              <a:t>foolish</a:t>
            </a:r>
            <a:r>
              <a:rPr lang="es-AR" sz="1200" b="1" dirty="0"/>
              <a:t>“</a:t>
            </a:r>
            <a:br>
              <a:rPr lang="es-AR" sz="1200" dirty="0"/>
            </a:br>
            <a:r>
              <a:rPr lang="es-AR" sz="1200" dirty="0"/>
              <a:t>“</a:t>
            </a:r>
            <a:r>
              <a:rPr lang="es-ES" sz="1200" i="1" dirty="0"/>
              <a:t>Quédate con hambre, sigue alocado”. </a:t>
            </a:r>
            <a:br>
              <a:rPr lang="es-ES" sz="1200" i="1" dirty="0"/>
            </a:br>
            <a:r>
              <a:rPr lang="es-ES" sz="1200" i="1" dirty="0"/>
              <a:t>Sé insaciable, aventúrate. </a:t>
            </a:r>
            <a:br>
              <a:rPr lang="es-ES" sz="1200" i="1" dirty="0"/>
            </a:br>
            <a:r>
              <a:rPr lang="es-ES" sz="1200" i="1" dirty="0"/>
              <a:t>Haz lo que no se atreven a hacer los demás.</a:t>
            </a:r>
            <a:br>
              <a:rPr lang="es-ES" sz="1200" i="1" dirty="0"/>
            </a:br>
            <a:r>
              <a:rPr lang="es-ES" sz="1200" i="1" dirty="0"/>
              <a:t>Piensa fuera de la caja. Nunca te conformes. </a:t>
            </a:r>
            <a:br>
              <a:rPr lang="es-ES" sz="1200" i="1" dirty="0"/>
            </a:br>
            <a:r>
              <a:rPr lang="es-ES" sz="1200" i="1" dirty="0"/>
              <a:t>Sigue asombrándote como si fueras un niño…</a:t>
            </a:r>
          </a:p>
          <a:p>
            <a:r>
              <a:rPr lang="es-ES" sz="1200" dirty="0"/>
              <a:t>		</a:t>
            </a:r>
            <a:br>
              <a:rPr lang="es-ES" sz="1200" dirty="0"/>
            </a:br>
            <a:r>
              <a:rPr lang="es-ES" sz="1200" dirty="0"/>
              <a:t>		Steve Jobs</a:t>
            </a:r>
          </a:p>
        </p:txBody>
      </p:sp>
    </p:spTree>
    <p:extLst>
      <p:ext uri="{BB962C8B-B14F-4D97-AF65-F5344CB8AC3E}">
        <p14:creationId xmlns:p14="http://schemas.microsoft.com/office/powerpoint/2010/main" val="220770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0" grpId="0"/>
      <p:bldP spid="41" grpId="0"/>
      <p:bldP spid="47" grpId="0"/>
      <p:bldP spid="48" grpId="0"/>
      <p:bldP spid="49" grpId="0"/>
      <p:bldP spid="50" grpId="0"/>
      <p:bldP spid="5" grpId="0"/>
      <p:bldP spid="7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heme/theme1.xml><?xml version="1.0" encoding="utf-8"?>
<a:theme xmlns:a="http://schemas.openxmlformats.org/drawingml/2006/main" name="1_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6.xml><?xml version="1.0" encoding="utf-8"?>
<a:theme xmlns:a="http://schemas.openxmlformats.org/drawingml/2006/main" name="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2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8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19.xml><?xml version="1.0" encoding="utf-8"?>
<a:theme xmlns:a="http://schemas.openxmlformats.org/drawingml/2006/main" name="2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2.xml><?xml version="1.0" encoding="utf-8"?>
<a:theme xmlns:a="http://schemas.openxmlformats.org/drawingml/2006/main" name="3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115169</TotalTime>
  <Words>1474</Words>
  <Application>Microsoft Office PowerPoint</Application>
  <PresentationFormat>Personalizado</PresentationFormat>
  <Paragraphs>192</Paragraphs>
  <Slides>22</Slides>
  <Notes>21</Notes>
  <HiddenSlides>0</HiddenSlides>
  <MMClips>1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22</vt:i4>
      </vt:variant>
      <vt:variant>
        <vt:lpstr>Títulos de diapositiva</vt:lpstr>
      </vt:variant>
      <vt:variant>
        <vt:i4>22</vt:i4>
      </vt:variant>
    </vt:vector>
  </HeadingPairs>
  <TitlesOfParts>
    <vt:vector size="57" baseType="lpstr">
      <vt:lpstr>Microsoft YaHei</vt:lpstr>
      <vt:lpstr>Microsoft YaHei</vt:lpstr>
      <vt:lpstr>.AppleSystemUIFont</vt:lpstr>
      <vt:lpstr>Arial</vt:lpstr>
      <vt:lpstr>Calibri</vt:lpstr>
      <vt:lpstr>Calibri Light</vt:lpstr>
      <vt:lpstr>Huawei Sans</vt:lpstr>
      <vt:lpstr>Open Sans</vt:lpstr>
      <vt:lpstr>Roboto</vt:lpstr>
      <vt:lpstr>Roboto Black</vt:lpstr>
      <vt:lpstr>Roboto Medium</vt:lpstr>
      <vt:lpstr>Roboto Thin</vt:lpstr>
      <vt:lpstr>Wingdings</vt:lpstr>
      <vt:lpstr>1_Title Slide</vt:lpstr>
      <vt:lpstr>Chart page</vt:lpstr>
      <vt:lpstr>4_Chart page</vt:lpstr>
      <vt:lpstr>End page</vt:lpstr>
      <vt:lpstr>章节页</vt:lpstr>
      <vt:lpstr>5_Chart page</vt:lpstr>
      <vt:lpstr>6_Chart page</vt:lpstr>
      <vt:lpstr>7_Chart page</vt:lpstr>
      <vt:lpstr>8_Chart page</vt:lpstr>
      <vt:lpstr>13_Chart page</vt:lpstr>
      <vt:lpstr>14_Chart page</vt:lpstr>
      <vt:lpstr>21_Chart page</vt:lpstr>
      <vt:lpstr>22_Chart page</vt:lpstr>
      <vt:lpstr>23_Chart page</vt:lpstr>
      <vt:lpstr>24_Chart page</vt:lpstr>
      <vt:lpstr>25_Chart page</vt:lpstr>
      <vt:lpstr>3_章节页</vt:lpstr>
      <vt:lpstr>6_章节页</vt:lpstr>
      <vt:lpstr>28_Chart page</vt:lpstr>
      <vt:lpstr>4_章节页</vt:lpstr>
      <vt:lpstr>7_章节页</vt:lpstr>
      <vt:lpstr>3_内容Copytext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SANCHEZ, JUAN PABLO</cp:lastModifiedBy>
  <cp:revision>1349</cp:revision>
  <dcterms:created xsi:type="dcterms:W3CDTF">2018-06-21T13:34:14Z</dcterms:created>
  <dcterms:modified xsi:type="dcterms:W3CDTF">2023-08-18T20:38:16Z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(3)ypgsI+ikLU6nuBk8Dy9Gfv2ZYz4ghZ1Y64BuNoo3wezqxfoBmBgJTTf6cTCXVzBoprdXmDk4
H5IbEgRDyER/r2EuJzyRdPr1xATnIsBtoKXx0pvaCr1aaWkthgzg8MScAkdbaUTn3E4uFSFy
BbQRmxVr6gwQgihQNkkKTwf2plbwWAifvihaeMStzz7Du1jFfLp9O/bv0njQgYEkVve7bAsc
U4cWlILEv1jbz3xLVH</vt:lpwstr>
  </property>
  <property fmtid="{D5CDD505-2E9C-101B-9397-08002B2CF9AE}" pid="3" name="_2015_ms_pID_7253431">
    <vt:lpwstr>fKiS15xe4P+d1aTWNhXbHUP8Q0Jd+S5p5GzDF4+5dZQLeJhxyJjMlm
Rg9klcYxoVxESH8hi8irdltohoVY3TEo87+ILCaz1Y5056bsSP9d65xu9MtRcvSIDzm7ObG5
HkUQ7nlf2dIkSkT8ptYEobk7f8xHHE1fKYLuLGlEd9y8kyjFhPQV8fgZOcwDtqnaO4AMG1yA
EB8nePMIomDlaPOAm+T9YK9dhAorqJVkgSGD</vt:lpwstr>
  </property>
  <property fmtid="{D5CDD505-2E9C-101B-9397-08002B2CF9AE}" pid="4" name="_2015_ms_pID_7253432">
    <vt:lpwstr>Gg==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1678373657</vt:lpwstr>
  </property>
  <property fmtid="{D5CDD505-2E9C-101B-9397-08002B2CF9AE}" pid="9" name="MSIP_Label_228ef38c-4357-49c8-b2ae-c9cdaf411188_Enabled">
    <vt:lpwstr>true</vt:lpwstr>
  </property>
  <property fmtid="{D5CDD505-2E9C-101B-9397-08002B2CF9AE}" pid="10" name="MSIP_Label_228ef38c-4357-49c8-b2ae-c9cdaf411188_SetDate">
    <vt:lpwstr>2023-08-18T20:22:30Z</vt:lpwstr>
  </property>
  <property fmtid="{D5CDD505-2E9C-101B-9397-08002B2CF9AE}" pid="11" name="MSIP_Label_228ef38c-4357-49c8-b2ae-c9cdaf411188_Method">
    <vt:lpwstr>Privileged</vt:lpwstr>
  </property>
  <property fmtid="{D5CDD505-2E9C-101B-9397-08002B2CF9AE}" pid="12" name="MSIP_Label_228ef38c-4357-49c8-b2ae-c9cdaf411188_Name">
    <vt:lpwstr>Personal</vt:lpwstr>
  </property>
  <property fmtid="{D5CDD505-2E9C-101B-9397-08002B2CF9AE}" pid="13" name="MSIP_Label_228ef38c-4357-49c8-b2ae-c9cdaf411188_SiteId">
    <vt:lpwstr>038018c3-616c-4b46-ad9b-aa9007f701b5</vt:lpwstr>
  </property>
  <property fmtid="{D5CDD505-2E9C-101B-9397-08002B2CF9AE}" pid="14" name="MSIP_Label_228ef38c-4357-49c8-b2ae-c9cdaf411188_ActionId">
    <vt:lpwstr>55571ca2-5162-4652-a489-cea3d1e62b92</vt:lpwstr>
  </property>
  <property fmtid="{D5CDD505-2E9C-101B-9397-08002B2CF9AE}" pid="15" name="MSIP_Label_228ef38c-4357-49c8-b2ae-c9cdaf411188_ContentBits">
    <vt:lpwstr>1</vt:lpwstr>
  </property>
  <property fmtid="{D5CDD505-2E9C-101B-9397-08002B2CF9AE}" pid="16" name="ClassificationContentMarkingHeaderLocations">
    <vt:lpwstr>1_Title Slide:3\Chart page:3\4_Chart page:5\End page:3\章节页:46\5_Chart page:5\6_Chart page:5\7_Chart page:5\8_Chart page:5\13_Chart page:5\14_Chart page:5\21_Chart page:5\22_Chart page:5\23_Chart page:5\24_Chart page:5\25_Chart page:5\3_章节页:5\6_章节页:5\28_Chart page:5\4_章节页:5\7_章节页:5\3_内容Copytext :6</vt:lpwstr>
  </property>
  <property fmtid="{D5CDD505-2E9C-101B-9397-08002B2CF9AE}" pid="17" name="ClassificationContentMarkingHeaderText">
    <vt:lpwstr>Documento: Personal</vt:lpwstr>
  </property>
</Properties>
</file>